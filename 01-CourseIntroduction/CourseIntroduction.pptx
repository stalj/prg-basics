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995" r:id="rId1"/>
  </p:sldMasterIdLst>
  <p:notesMasterIdLst>
    <p:notesMasterId r:id="rId22"/>
  </p:notesMasterIdLst>
  <p:handoutMasterIdLst>
    <p:handoutMasterId r:id="rId23"/>
  </p:handoutMasterIdLst>
  <p:sldIdLst>
    <p:sldId id="256" r:id="rId2"/>
    <p:sldId id="292" r:id="rId3"/>
    <p:sldId id="327" r:id="rId4"/>
    <p:sldId id="306" r:id="rId5"/>
    <p:sldId id="304" r:id="rId6"/>
    <p:sldId id="343" r:id="rId7"/>
    <p:sldId id="307" r:id="rId8"/>
    <p:sldId id="320" r:id="rId9"/>
    <p:sldId id="291" r:id="rId10"/>
    <p:sldId id="316" r:id="rId11"/>
    <p:sldId id="317" r:id="rId12"/>
    <p:sldId id="318" r:id="rId13"/>
    <p:sldId id="319" r:id="rId14"/>
    <p:sldId id="335" r:id="rId15"/>
    <p:sldId id="333" r:id="rId16"/>
    <p:sldId id="337" r:id="rId17"/>
    <p:sldId id="334" r:id="rId18"/>
    <p:sldId id="323" r:id="rId19"/>
    <p:sldId id="340" r:id="rId20"/>
    <p:sldId id="312" r:id="rId21"/>
  </p:sldIdLst>
  <p:sldSz cx="12192000" cy="6858000"/>
  <p:notesSz cx="6888163" cy="100203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F0ECAB-B2F0-45E0-B7F9-20493D3A71C5}" v="1" dt="2026-10-03T15:38:29.9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Styl jasny 3 — Ak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Styl pośredni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Styl pośredni 2 — Ak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Styl jasny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 jasny 1 — Ak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64165" autoAdjust="0"/>
  </p:normalViewPr>
  <p:slideViewPr>
    <p:cSldViewPr snapToGrid="0">
      <p:cViewPr varScale="1">
        <p:scale>
          <a:sx n="89" d="100"/>
          <a:sy n="89" d="100"/>
        </p:scale>
        <p:origin x="1733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4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usz Stal" userId="570fe9c4-9123-4bde-9755-2a9767a29a9c" providerId="ADAL" clId="{93B0BD34-580E-4F7F-A301-D1F6EE30DB68}"/>
    <pc:docChg chg="undo custSel delSld modSld">
      <pc:chgData name="Janusz Stal" userId="570fe9c4-9123-4bde-9755-2a9767a29a9c" providerId="ADAL" clId="{93B0BD34-580E-4F7F-A301-D1F6EE30DB68}" dt="2026-10-03T16:34:16.774" v="98" actId="20577"/>
      <pc:docMkLst>
        <pc:docMk/>
      </pc:docMkLst>
      <pc:sldChg chg="modSp mod">
        <pc:chgData name="Janusz Stal" userId="570fe9c4-9123-4bde-9755-2a9767a29a9c" providerId="ADAL" clId="{93B0BD34-580E-4F7F-A301-D1F6EE30DB68}" dt="2026-10-03T15:38:43.472" v="41" actId="6549"/>
        <pc:sldMkLst>
          <pc:docMk/>
          <pc:sldMk cId="748555187" sldId="256"/>
        </pc:sldMkLst>
        <pc:spChg chg="mod">
          <ac:chgData name="Janusz Stal" userId="570fe9c4-9123-4bde-9755-2a9767a29a9c" providerId="ADAL" clId="{93B0BD34-580E-4F7F-A301-D1F6EE30DB68}" dt="2026-10-03T15:38:33.748" v="40" actId="20577"/>
          <ac:spMkLst>
            <pc:docMk/>
            <pc:sldMk cId="748555187" sldId="256"/>
            <ac:spMk id="2" creationId="{00000000-0000-0000-0000-000000000000}"/>
          </ac:spMkLst>
        </pc:spChg>
        <pc:spChg chg="mod">
          <ac:chgData name="Janusz Stal" userId="570fe9c4-9123-4bde-9755-2a9767a29a9c" providerId="ADAL" clId="{93B0BD34-580E-4F7F-A301-D1F6EE30DB68}" dt="2026-10-03T15:38:43.472" v="41" actId="6549"/>
          <ac:spMkLst>
            <pc:docMk/>
            <pc:sldMk cId="748555187" sldId="256"/>
            <ac:spMk id="3" creationId="{00000000-0000-0000-0000-000000000000}"/>
          </ac:spMkLst>
        </pc:spChg>
      </pc:sldChg>
      <pc:sldChg chg="modSp mod">
        <pc:chgData name="Janusz Stal" userId="570fe9c4-9123-4bde-9755-2a9767a29a9c" providerId="ADAL" clId="{93B0BD34-580E-4F7F-A301-D1F6EE30DB68}" dt="2026-10-03T16:32:54.294" v="65" actId="13926"/>
        <pc:sldMkLst>
          <pc:docMk/>
          <pc:sldMk cId="3285343587" sldId="292"/>
        </pc:sldMkLst>
        <pc:spChg chg="mod">
          <ac:chgData name="Janusz Stal" userId="570fe9c4-9123-4bde-9755-2a9767a29a9c" providerId="ADAL" clId="{93B0BD34-580E-4F7F-A301-D1F6EE30DB68}" dt="2026-10-03T16:32:54.294" v="65" actId="13926"/>
          <ac:spMkLst>
            <pc:docMk/>
            <pc:sldMk cId="3285343587" sldId="292"/>
            <ac:spMk id="2" creationId="{3EDFA272-3930-484B-991B-B3AB08924CB2}"/>
          </ac:spMkLst>
        </pc:spChg>
      </pc:sldChg>
      <pc:sldChg chg="modSp mod">
        <pc:chgData name="Janusz Stal" userId="570fe9c4-9123-4bde-9755-2a9767a29a9c" providerId="ADAL" clId="{93B0BD34-580E-4F7F-A301-D1F6EE30DB68}" dt="2026-10-03T16:34:16.774" v="98" actId="20577"/>
        <pc:sldMkLst>
          <pc:docMk/>
          <pc:sldMk cId="1144236073" sldId="316"/>
        </pc:sldMkLst>
        <pc:spChg chg="mod">
          <ac:chgData name="Janusz Stal" userId="570fe9c4-9123-4bde-9755-2a9767a29a9c" providerId="ADAL" clId="{93B0BD34-580E-4F7F-A301-D1F6EE30DB68}" dt="2026-10-03T16:34:16.774" v="98" actId="20577"/>
          <ac:spMkLst>
            <pc:docMk/>
            <pc:sldMk cId="1144236073" sldId="316"/>
            <ac:spMk id="2" creationId="{C7200191-8C7A-20BB-91B3-C7A0EB4D769B}"/>
          </ac:spMkLst>
        </pc:spChg>
      </pc:sldChg>
      <pc:sldChg chg="del">
        <pc:chgData name="Janusz Stal" userId="570fe9c4-9123-4bde-9755-2a9767a29a9c" providerId="ADAL" clId="{93B0BD34-580E-4F7F-A301-D1F6EE30DB68}" dt="2026-10-03T15:56:08.274" v="64" actId="2696"/>
        <pc:sldMkLst>
          <pc:docMk/>
          <pc:sldMk cId="3170683099" sldId="34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4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pl-PL" dirty="0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901698" y="4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C106EF3D-C2A7-4690-80C8-C2473A856193}" type="datetimeFigureOut">
              <a:rPr lang="pl-PL" smtClean="0"/>
              <a:t>03.10.2026</a:t>
            </a:fld>
            <a:endParaRPr lang="pl-PL" dirty="0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9517548"/>
            <a:ext cx="2984871" cy="502753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pl-PL" dirty="0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901698" y="9517548"/>
            <a:ext cx="2984871" cy="502753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E65DEDBD-A40C-48DD-8040-A0E5C5C8F870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120535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4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pl-PL" dirty="0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901698" y="4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85D68E81-03CD-43A1-B18B-BEB6B9439387}" type="datetimeFigureOut">
              <a:rPr lang="pl-PL" smtClean="0"/>
              <a:t>03.10.2026</a:t>
            </a:fld>
            <a:endParaRPr lang="pl-PL" dirty="0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50950"/>
            <a:ext cx="6015037" cy="3384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pl-PL" dirty="0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8817" y="4822270"/>
            <a:ext cx="5510530" cy="3945494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9517548"/>
            <a:ext cx="2984871" cy="502753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pl-PL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901698" y="9517548"/>
            <a:ext cx="2984871" cy="502753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A57965AB-F56B-43E1-8FC6-BF0F64E550D5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10142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965AB-F56B-43E1-8FC6-BF0F64E550D5}" type="slidenum">
              <a:rPr lang="pl-PL" smtClean="0"/>
              <a:t>1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66482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965AB-F56B-43E1-8FC6-BF0F64E550D5}" type="slidenum">
              <a:rPr lang="pl-PL" smtClean="0"/>
              <a:t>2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39715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965AB-F56B-43E1-8FC6-BF0F64E550D5}" type="slidenum">
              <a:rPr lang="pl-PL" smtClean="0"/>
              <a:t>3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18222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965AB-F56B-43E1-8FC6-BF0F64E550D5}" type="slidenum">
              <a:rPr lang="pl-PL" smtClean="0"/>
              <a:t>4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6761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965AB-F56B-43E1-8FC6-BF0F64E550D5}" type="slidenum">
              <a:rPr lang="pl-PL" smtClean="0"/>
              <a:t>5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502182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965AB-F56B-43E1-8FC6-BF0F64E550D5}" type="slidenum">
              <a:rPr lang="pl-PL" smtClean="0"/>
              <a:t>6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56928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965AB-F56B-43E1-8FC6-BF0F64E550D5}" type="slidenum">
              <a:rPr lang="pl-PL" smtClean="0"/>
              <a:t>7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10666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965AB-F56B-43E1-8FC6-BF0F64E550D5}" type="slidenum">
              <a:rPr lang="pl-PL" smtClean="0"/>
              <a:t>8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435691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965AB-F56B-43E1-8FC6-BF0F64E550D5}" type="slidenum">
              <a:rPr lang="pl-PL" smtClean="0"/>
              <a:t>9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2348344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965AB-F56B-43E1-8FC6-BF0F64E550D5}" type="slidenum">
              <a:rPr lang="pl-PL" smtClean="0"/>
              <a:t>10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297185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965AB-F56B-43E1-8FC6-BF0F64E550D5}" type="slidenum">
              <a:rPr lang="pl-PL" smtClean="0"/>
              <a:t>11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123849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965AB-F56B-43E1-8FC6-BF0F64E550D5}" type="slidenum">
              <a:rPr lang="pl-PL" smtClean="0"/>
              <a:t>12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11222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965AB-F56B-43E1-8FC6-BF0F64E550D5}" type="slidenum">
              <a:rPr lang="pl-PL" smtClean="0"/>
              <a:t>13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24628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965AB-F56B-43E1-8FC6-BF0F64E550D5}" type="slidenum">
              <a:rPr lang="pl-PL" smtClean="0"/>
              <a:t>14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130542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965AB-F56B-43E1-8FC6-BF0F64E550D5}" type="slidenum">
              <a:rPr lang="pl-PL" smtClean="0"/>
              <a:t>15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399673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965AB-F56B-43E1-8FC6-BF0F64E550D5}" type="slidenum">
              <a:rPr lang="pl-PL" smtClean="0"/>
              <a:t>16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741459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965AB-F56B-43E1-8FC6-BF0F64E550D5}" type="slidenum">
              <a:rPr lang="pl-PL" smtClean="0"/>
              <a:t>17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2987771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965AB-F56B-43E1-8FC6-BF0F64E550D5}" type="slidenum">
              <a:rPr lang="pl-PL" smtClean="0"/>
              <a:t>18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477746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965AB-F56B-43E1-8FC6-BF0F64E550D5}" type="slidenum">
              <a:rPr lang="pl-PL" smtClean="0"/>
              <a:t>19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181067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965AB-F56B-43E1-8FC6-BF0F64E550D5}" type="slidenum">
              <a:rPr lang="pl-PL" smtClean="0"/>
              <a:t>20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66215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3061-B9B7-461F-AB67-5D66A3ABCDA5}" type="datetime1">
              <a:rPr lang="pl-PL" smtClean="0"/>
              <a:t>03.10.2026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37478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b="1"/>
            </a:lvl1pPr>
          </a:lstStyle>
          <a:p>
            <a:pPr lvl="0"/>
            <a:r>
              <a:rPr lang="pl-PL" dirty="0"/>
              <a:t>Edytuj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9FAE5-AB97-492F-ADAE-06E72624D9F3}" type="datetime1">
              <a:rPr lang="pl-PL" smtClean="0"/>
              <a:t>03.10.2026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‹#›</a:t>
            </a:fld>
            <a:endParaRPr lang="pl-PL" dirty="0"/>
          </a:p>
        </p:txBody>
      </p:sp>
      <p:sp>
        <p:nvSpPr>
          <p:cNvPr id="7" name="Tytuł 6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</p:spTree>
    <p:extLst>
      <p:ext uri="{BB962C8B-B14F-4D97-AF65-F5344CB8AC3E}">
        <p14:creationId xmlns:p14="http://schemas.microsoft.com/office/powerpoint/2010/main" val="2811545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danie do wykonan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1800" b="1"/>
            </a:lvl1pPr>
            <a:lvl2pPr>
              <a:defRPr sz="1800"/>
            </a:lvl2pPr>
          </a:lstStyle>
          <a:p>
            <a:pPr lvl="0"/>
            <a:r>
              <a:rPr lang="pl-PL" dirty="0"/>
              <a:t>Edytuj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9FAE5-AB97-492F-ADAE-06E72624D9F3}" type="datetime1">
              <a:rPr lang="pl-PL" smtClean="0"/>
              <a:t>03.10.2026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‹#›</a:t>
            </a:fld>
            <a:endParaRPr lang="pl-PL" dirty="0"/>
          </a:p>
        </p:txBody>
      </p:sp>
      <p:sp>
        <p:nvSpPr>
          <p:cNvPr id="7" name="Tytuł 6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</p:spTree>
    <p:extLst>
      <p:ext uri="{BB962C8B-B14F-4D97-AF65-F5344CB8AC3E}">
        <p14:creationId xmlns:p14="http://schemas.microsoft.com/office/powerpoint/2010/main" val="409335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k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sz="2400" b="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lvl="0"/>
            <a:r>
              <a:rPr lang="pl-PL" dirty="0"/>
              <a:t>Edytuj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9FAE5-AB97-492F-ADAE-06E72624D9F3}" type="datetime1">
              <a:rPr lang="pl-PL" smtClean="0"/>
              <a:t>03.10.2026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‹#›</a:t>
            </a:fld>
            <a:endParaRPr lang="pl-PL" dirty="0"/>
          </a:p>
        </p:txBody>
      </p:sp>
      <p:sp>
        <p:nvSpPr>
          <p:cNvPr id="7" name="Tytuł 6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</p:spTree>
    <p:extLst>
      <p:ext uri="{BB962C8B-B14F-4D97-AF65-F5344CB8AC3E}">
        <p14:creationId xmlns:p14="http://schemas.microsoft.com/office/powerpoint/2010/main" val="396218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DA0A-F020-4B01-AF63-E290248EFD6B}" type="datetime1">
              <a:rPr lang="pl-PL" smtClean="0"/>
              <a:t>03.10.2026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16368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b="1"/>
            </a:lvl1pPr>
          </a:lstStyle>
          <a:p>
            <a:pPr lvl="0"/>
            <a:r>
              <a:rPr lang="pl-PL" dirty="0"/>
              <a:t>Edytuj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b="1"/>
            </a:lvl1pPr>
          </a:lstStyle>
          <a:p>
            <a:pPr lvl="0"/>
            <a:r>
              <a:rPr lang="pl-PL" dirty="0"/>
              <a:t>Edytuj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2FBA-2CC8-4F32-B36A-B6E16B4A5C14}" type="datetime1">
              <a:rPr lang="pl-PL" smtClean="0"/>
              <a:t>03.10.2026</a:t>
            </a:fld>
            <a:endParaRPr lang="pl-PL" dirty="0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0108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/>
            </a:lvl1pPr>
          </a:lstStyle>
          <a:p>
            <a:pPr lvl="0"/>
            <a:r>
              <a:rPr lang="pl-PL" dirty="0"/>
              <a:t>Edytuj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/>
            </a:lvl1pPr>
          </a:lstStyle>
          <a:p>
            <a:pPr lvl="0"/>
            <a:r>
              <a:rPr lang="pl-PL" dirty="0"/>
              <a:t>Edytuj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BA32A-B79B-42FE-906A-2593AD6A7FCC}" type="datetime1">
              <a:rPr lang="pl-PL" smtClean="0"/>
              <a:t>03.10.2026</a:t>
            </a:fld>
            <a:endParaRPr lang="pl-PL" dirty="0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51091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8EDCB-CC2B-4C70-B921-DD5382BD4849}" type="datetime1">
              <a:rPr lang="pl-PL" smtClean="0"/>
              <a:t>03.10.2026</a:t>
            </a:fld>
            <a:endParaRPr lang="pl-PL" dirty="0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81778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CF9B-2F8C-4614-93FE-75BD5748BF99}" type="datetime1">
              <a:rPr lang="pl-PL" smtClean="0"/>
              <a:t>03.10.2026</a:t>
            </a:fld>
            <a:endParaRPr lang="pl-PL" dirty="0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13243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DAE54-1728-4B6D-BEF4-D2AEA4F8114E}" type="datetime1">
              <a:rPr lang="pl-PL" smtClean="0"/>
              <a:t>03.10.2026</a:t>
            </a:fld>
            <a:endParaRPr lang="pl-PL" dirty="0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026942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C3B4F-179D-44ED-90DF-E8739DC8608F}" type="datetime1">
              <a:rPr lang="pl-PL" smtClean="0"/>
              <a:t>03.10.2026</a:t>
            </a:fld>
            <a:endParaRPr lang="pl-PL" dirty="0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533701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2297D-8C4B-4C5B-B66E-47E601842B03}" type="datetime1">
              <a:rPr lang="pl-PL" smtClean="0"/>
              <a:t>03.10.2026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189124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42B50-113C-45E3-9231-B66C297B394E}" type="datetime1">
              <a:rPr lang="pl-PL" smtClean="0"/>
              <a:t>03.10.2026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54211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dirty="0"/>
              <a:t>Edytuj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76EAB-4011-4C81-ACEC-B79731A9A244}" type="datetime1">
              <a:rPr lang="pl-PL" smtClean="0"/>
              <a:t>03.10.2026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C963F-D690-449C-B336-8B464EE7B8DB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9253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96" r:id="rId1"/>
    <p:sldLayoutId id="2147484997" r:id="rId2"/>
    <p:sldLayoutId id="2147485008" r:id="rId3"/>
    <p:sldLayoutId id="2147485007" r:id="rId4"/>
    <p:sldLayoutId id="2147484998" r:id="rId5"/>
    <p:sldLayoutId id="2147484999" r:id="rId6"/>
    <p:sldLayoutId id="2147485000" r:id="rId7"/>
    <p:sldLayoutId id="2147485001" r:id="rId8"/>
    <p:sldLayoutId id="2147485002" r:id="rId9"/>
    <p:sldLayoutId id="2147485003" r:id="rId10"/>
    <p:sldLayoutId id="2147485004" r:id="rId11"/>
    <p:sldLayoutId id="2147485005" r:id="rId12"/>
    <p:sldLayoutId id="21474850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-uczelnia.uek.krakow.pl/course/view.php?id=21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4e.com/book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play.google.com/store/apps/details?id=com.sololearn&amp;hl=en" TargetMode="External"/><Relationship Id="rId5" Type="http://schemas.openxmlformats.org/officeDocument/2006/relationships/hyperlink" Target="https://www.w3schools.com/python/default.asp" TargetMode="External"/><Relationship Id="rId4" Type="http://schemas.openxmlformats.org/officeDocument/2006/relationships/hyperlink" Target="https://docs.python.org/3/tutorial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Fundamentals of Programming</a:t>
            </a:r>
            <a:br>
              <a:rPr lang="pl-PL" dirty="0"/>
            </a:br>
            <a:r>
              <a:rPr lang="pl-PL" dirty="0"/>
              <a:t>Podstawy Programowania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</p:spTree>
    <p:extLst>
      <p:ext uri="{BB962C8B-B14F-4D97-AF65-F5344CB8AC3E}">
        <p14:creationId xmlns:p14="http://schemas.microsoft.com/office/powerpoint/2010/main" val="74855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12673">
        <p14:prism/>
      </p:transition>
    </mc:Choice>
    <mc:Fallback xmlns="">
      <p:transition spd="slow" advTm="12673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3EDFA272-3930-484B-991B-B3AB08924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pl-PL" dirty="0">
                <a:highlight>
                  <a:srgbClr val="00FF00"/>
                </a:highlight>
              </a:rPr>
              <a:t>C</a:t>
            </a:r>
            <a:r>
              <a:rPr lang="en-US" dirty="0" err="1">
                <a:highlight>
                  <a:srgbClr val="00FF00"/>
                </a:highlight>
              </a:rPr>
              <a:t>ourse</a:t>
            </a:r>
            <a:r>
              <a:rPr lang="en-US" dirty="0">
                <a:highlight>
                  <a:srgbClr val="00FF00"/>
                </a:highlight>
              </a:rPr>
              <a:t> forum </a:t>
            </a:r>
            <a:r>
              <a:rPr lang="en-US" b="0" dirty="0">
                <a:highlight>
                  <a:srgbClr val="00FF00"/>
                </a:highlight>
              </a:rPr>
              <a:t>on </a:t>
            </a:r>
            <a:r>
              <a:rPr lang="pl-PL" b="0" dirty="0">
                <a:highlight>
                  <a:srgbClr val="00FF00"/>
                </a:highlight>
              </a:rPr>
              <a:t>Microsoft </a:t>
            </a:r>
            <a:r>
              <a:rPr lang="en-US" b="0" dirty="0">
                <a:highlight>
                  <a:srgbClr val="00FF00"/>
                </a:highlight>
              </a:rPr>
              <a:t>Teams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b="0" dirty="0">
                <a:highlight>
                  <a:srgbClr val="00FF00"/>
                </a:highlight>
              </a:rPr>
              <a:t>Microsoft Teams </a:t>
            </a:r>
            <a:r>
              <a:rPr lang="en-US" dirty="0">
                <a:highlight>
                  <a:srgbClr val="00FF00"/>
                </a:highlight>
              </a:rPr>
              <a:t>chat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pl-PL" dirty="0"/>
              <a:t>E</a:t>
            </a:r>
            <a:r>
              <a:rPr lang="en-US" dirty="0"/>
              <a:t>mail </a:t>
            </a:r>
            <a:r>
              <a:rPr lang="en-US" b="0" dirty="0"/>
              <a:t>(details on teacher’s e-card)</a:t>
            </a:r>
            <a:endParaRPr lang="pl-PL" b="0" dirty="0"/>
          </a:p>
          <a:p>
            <a:pPr marL="514350" indent="-514350">
              <a:buAutoNum type="arabicPeriod"/>
            </a:pPr>
            <a:r>
              <a:rPr lang="pl-PL" dirty="0"/>
              <a:t>O</a:t>
            </a:r>
            <a:r>
              <a:rPr lang="en-US" dirty="0" err="1"/>
              <a:t>ffice</a:t>
            </a:r>
            <a:r>
              <a:rPr lang="en-US" dirty="0"/>
              <a:t> </a:t>
            </a:r>
            <a:r>
              <a:rPr lang="pl-PL" dirty="0"/>
              <a:t>H</a:t>
            </a:r>
            <a:r>
              <a:rPr lang="en-US" dirty="0"/>
              <a:t>ours </a:t>
            </a:r>
            <a:r>
              <a:rPr lang="en-US" b="0" dirty="0"/>
              <a:t>(details on teacher’s e-card)</a:t>
            </a:r>
          </a:p>
          <a:p>
            <a:endParaRPr lang="pl-PL" dirty="0"/>
          </a:p>
          <a:p>
            <a:r>
              <a:rPr lang="pl-PL" dirty="0" err="1"/>
              <a:t>Teacher’s</a:t>
            </a:r>
            <a:r>
              <a:rPr lang="pl-PL" dirty="0"/>
              <a:t> e-</a:t>
            </a:r>
            <a:r>
              <a:rPr lang="pl-PL" dirty="0" err="1"/>
              <a:t>card</a:t>
            </a:r>
            <a:endParaRPr lang="pl-PL" dirty="0"/>
          </a:p>
          <a:p>
            <a:r>
              <a:rPr lang="en-US" dirty="0">
                <a:hlinkClick r:id="rId3"/>
              </a:rPr>
              <a:t>https://e-uczelnia.uek.krakow.pl/course/view.php?id=218</a:t>
            </a:r>
            <a:r>
              <a:rPr lang="pl-PL" dirty="0"/>
              <a:t> </a:t>
            </a:r>
            <a:r>
              <a:rPr lang="en-US" dirty="0"/>
              <a:t> 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A2FD0D59-51B8-45E0-AAEF-CD6568C0D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en-US" smtClean="0"/>
              <a:t>2</a:t>
            </a:fld>
            <a:endParaRPr lang="en-US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DB2026DC-A629-4A00-8F6F-4CFDE7F3E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</a:t>
            </a:r>
            <a:r>
              <a:rPr lang="pl-PL" dirty="0"/>
              <a:t> with </a:t>
            </a:r>
            <a:r>
              <a:rPr lang="pl-PL" dirty="0" err="1"/>
              <a:t>Teacher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343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988">
        <p14:prism/>
      </p:transition>
    </mc:Choice>
    <mc:Fallback xmlns="">
      <p:transition spd="slow" advTm="50988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35D759D-0154-DDCB-5AE5-29F499429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Course </a:t>
            </a:r>
            <a:r>
              <a:rPr lang="en-US" dirty="0"/>
              <a:t>Details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21D4B2B-D696-E61C-B4C6-45CA2191D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5165F70-3FA5-8DF5-DCBD-0E78977EB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3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30001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10458">
        <p14:prism/>
      </p:transition>
    </mc:Choice>
    <mc:Fallback xmlns="">
      <p:transition spd="slow" advTm="10458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361DBB10-7E00-4A84-BE20-BE665A5B4E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7299825"/>
              </p:ext>
            </p:extLst>
          </p:nvPr>
        </p:nvGraphicFramePr>
        <p:xfrm>
          <a:off x="866601" y="2392680"/>
          <a:ext cx="10458797" cy="20726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0458797">
                  <a:extLst>
                    <a:ext uri="{9D8B030D-6E8A-4147-A177-3AD203B41FA5}">
                      <a16:colId xmlns:a16="http://schemas.microsoft.com/office/drawing/2014/main" val="3560931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noProof="0" dirty="0"/>
                        <a:t>Main</a:t>
                      </a:r>
                      <a:r>
                        <a:rPr lang="pl-PL" sz="2800" noProof="0" dirty="0"/>
                        <a:t> </a:t>
                      </a:r>
                      <a:r>
                        <a:rPr lang="en-US" sz="2800" noProof="0" dirty="0"/>
                        <a:t>Class Topic</a:t>
                      </a:r>
                      <a:r>
                        <a:rPr lang="pl-PL" sz="2800" noProof="0" dirty="0"/>
                        <a:t>s</a:t>
                      </a:r>
                      <a:endParaRPr lang="en-US" sz="28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11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noProof="0" dirty="0"/>
                        <a:t>Part 1: </a:t>
                      </a:r>
                      <a:r>
                        <a:rPr lang="en-US" sz="2800" b="1" noProof="0" dirty="0"/>
                        <a:t>PROGRAMING BASICS</a:t>
                      </a:r>
                      <a:r>
                        <a:rPr lang="pl-PL" sz="2800" b="1" noProof="0" dirty="0"/>
                        <a:t> </a:t>
                      </a:r>
                      <a:r>
                        <a:rPr lang="pl-PL" sz="2800" noProof="0" dirty="0"/>
                        <a:t>(</a:t>
                      </a:r>
                      <a:r>
                        <a:rPr lang="pl-PL" sz="2800" noProof="0" dirty="0" err="1"/>
                        <a:t>variable</a:t>
                      </a:r>
                      <a:r>
                        <a:rPr lang="pl-PL" sz="2800" noProof="0" dirty="0"/>
                        <a:t>, </a:t>
                      </a:r>
                      <a:r>
                        <a:rPr lang="pl-PL" sz="2800" noProof="0" dirty="0" err="1"/>
                        <a:t>control</a:t>
                      </a:r>
                      <a:r>
                        <a:rPr lang="pl-PL" sz="2800" noProof="0" dirty="0"/>
                        <a:t> </a:t>
                      </a:r>
                      <a:r>
                        <a:rPr lang="pl-PL" sz="2800" noProof="0" dirty="0" err="1"/>
                        <a:t>structure</a:t>
                      </a:r>
                      <a:r>
                        <a:rPr lang="pl-PL" sz="2800" noProof="0" dirty="0"/>
                        <a:t>, </a:t>
                      </a:r>
                      <a:r>
                        <a:rPr lang="pl-PL" sz="2800" noProof="0" dirty="0" err="1"/>
                        <a:t>function</a:t>
                      </a:r>
                      <a:r>
                        <a:rPr lang="pl-PL" sz="2800" noProof="0" dirty="0"/>
                        <a:t>)</a:t>
                      </a:r>
                      <a:endParaRPr lang="en-US" sz="28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157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noProof="0" dirty="0"/>
                        <a:t>Part 2: </a:t>
                      </a:r>
                      <a:r>
                        <a:rPr lang="en-US" sz="2800" b="1" noProof="0" dirty="0"/>
                        <a:t>DATA STRUCTURES</a:t>
                      </a:r>
                      <a:r>
                        <a:rPr lang="pl-PL" sz="2800" b="1" noProof="0" dirty="0"/>
                        <a:t> </a:t>
                      </a:r>
                      <a:r>
                        <a:rPr lang="pl-PL" sz="2800" noProof="0" dirty="0"/>
                        <a:t>(</a:t>
                      </a:r>
                      <a:r>
                        <a:rPr lang="pl-PL" sz="2800" noProof="0" dirty="0" err="1"/>
                        <a:t>array</a:t>
                      </a:r>
                      <a:r>
                        <a:rPr lang="pl-PL" sz="2800" noProof="0" dirty="0"/>
                        <a:t>, file, </a:t>
                      </a:r>
                      <a:r>
                        <a:rPr lang="pl-PL" sz="2800" noProof="0" dirty="0" err="1"/>
                        <a:t>dictionary</a:t>
                      </a:r>
                      <a:r>
                        <a:rPr lang="pl-PL" sz="2800" noProof="0" dirty="0"/>
                        <a:t>, set)</a:t>
                      </a:r>
                      <a:endParaRPr lang="en-US" sz="28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820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noProof="0" dirty="0"/>
                        <a:t>Part 3: </a:t>
                      </a:r>
                      <a:r>
                        <a:rPr lang="pl-PL" sz="2800" b="1" noProof="0" dirty="0"/>
                        <a:t>PROGRAMMING PARADIGMS </a:t>
                      </a:r>
                      <a:r>
                        <a:rPr lang="pl-PL" sz="2800" noProof="0" dirty="0"/>
                        <a:t>(</a:t>
                      </a:r>
                      <a:r>
                        <a:rPr lang="pl-PL" sz="2800" noProof="0" dirty="0" err="1"/>
                        <a:t>class</a:t>
                      </a:r>
                      <a:r>
                        <a:rPr lang="pl-PL" sz="2800" noProof="0" dirty="0"/>
                        <a:t>, </a:t>
                      </a:r>
                      <a:r>
                        <a:rPr lang="pl-PL" sz="2800" noProof="0" dirty="0" err="1"/>
                        <a:t>object</a:t>
                      </a:r>
                      <a:r>
                        <a:rPr lang="pl-PL" sz="2800" noProof="0" dirty="0"/>
                        <a:t>, </a:t>
                      </a:r>
                      <a:r>
                        <a:rPr lang="pl-PL" sz="2800" noProof="0" dirty="0" err="1"/>
                        <a:t>method</a:t>
                      </a:r>
                      <a:r>
                        <a:rPr lang="pl-PL" sz="2800" noProof="0" dirty="0"/>
                        <a:t>)</a:t>
                      </a:r>
                      <a:endParaRPr lang="en-US" sz="28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42006"/>
                  </a:ext>
                </a:extLst>
              </a:tr>
            </a:tbl>
          </a:graphicData>
        </a:graphic>
      </p:graphicFrame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E1DB279C-94A7-4DFC-A109-BA528BD46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en-US" smtClean="0"/>
              <a:t>4</a:t>
            </a:fld>
            <a:endParaRPr lang="en-US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90B9A314-672B-4F71-B03D-13774E425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Course Content</a:t>
            </a:r>
          </a:p>
        </p:txBody>
      </p:sp>
    </p:spTree>
    <p:extLst>
      <p:ext uri="{BB962C8B-B14F-4D97-AF65-F5344CB8AC3E}">
        <p14:creationId xmlns:p14="http://schemas.microsoft.com/office/powerpoint/2010/main" val="99534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3298">
        <p14:prism/>
      </p:transition>
    </mc:Choice>
    <mc:Fallback xmlns="">
      <p:transition spd="slow" advTm="53298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E9CC96A-D6D3-541C-CD5A-0B32133C4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9" name="Tytuł 8">
            <a:extLst>
              <a:ext uri="{FF2B5EF4-FFF2-40B4-BE49-F238E27FC236}">
                <a16:creationId xmlns:a16="http://schemas.microsoft.com/office/drawing/2014/main" id="{99858D17-3FD7-4EEC-A5C3-DF54B793A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Knowledge</a:t>
            </a:r>
          </a:p>
        </p:txBody>
      </p:sp>
      <p:graphicFrame>
        <p:nvGraphicFramePr>
          <p:cNvPr id="10" name="Symbol zastępczy zawartości 4">
            <a:extLst>
              <a:ext uri="{FF2B5EF4-FFF2-40B4-BE49-F238E27FC236}">
                <a16:creationId xmlns:a16="http://schemas.microsoft.com/office/drawing/2014/main" id="{F6C54067-57EB-4DCA-B29A-43AE221430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1190872"/>
              </p:ext>
            </p:extLst>
          </p:nvPr>
        </p:nvGraphicFramePr>
        <p:xfrm>
          <a:off x="838200" y="2462357"/>
          <a:ext cx="10515600" cy="3698714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5496754">
                  <a:extLst>
                    <a:ext uri="{9D8B030D-6E8A-4147-A177-3AD203B41FA5}">
                      <a16:colId xmlns:a16="http://schemas.microsoft.com/office/drawing/2014/main" val="3498337492"/>
                    </a:ext>
                  </a:extLst>
                </a:gridCol>
                <a:gridCol w="5018846">
                  <a:extLst>
                    <a:ext uri="{9D8B030D-6E8A-4147-A177-3AD203B41FA5}">
                      <a16:colId xmlns:a16="http://schemas.microsoft.com/office/drawing/2014/main" val="3339330067"/>
                    </a:ext>
                  </a:extLst>
                </a:gridCol>
              </a:tblGrid>
              <a:tr h="59450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l-PL" sz="2800" noProof="0" dirty="0">
                          <a:effectLst/>
                        </a:rPr>
                        <a:t>TESTS</a:t>
                      </a:r>
                      <a:endParaRPr lang="en-US" sz="28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5740" marR="20574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l-PL" sz="2800" noProof="0" dirty="0">
                          <a:effectLst/>
                        </a:rPr>
                        <a:t>POINTS</a:t>
                      </a:r>
                      <a:endParaRPr lang="en-US" sz="28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5740" marR="205740" marT="0" marB="0"/>
                </a:tc>
                <a:extLst>
                  <a:ext uri="{0D108BD9-81ED-4DB2-BD59-A6C34878D82A}">
                    <a16:rowId xmlns:a16="http://schemas.microsoft.com/office/drawing/2014/main" val="3402693181"/>
                  </a:ext>
                </a:extLst>
              </a:tr>
              <a:tr h="6208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b="0" noProof="0" dirty="0">
                          <a:effectLst/>
                        </a:rPr>
                        <a:t>Test 1</a:t>
                      </a:r>
                      <a:endParaRPr lang="en-US" sz="2800" b="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5740" marR="20574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l-PL" sz="2800" b="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0-10</a:t>
                      </a:r>
                      <a:endParaRPr lang="en-US" sz="2800" b="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5740" marR="205740" marT="0" marB="0"/>
                </a:tc>
                <a:extLst>
                  <a:ext uri="{0D108BD9-81ED-4DB2-BD59-A6C34878D82A}">
                    <a16:rowId xmlns:a16="http://schemas.microsoft.com/office/drawing/2014/main" val="1882363213"/>
                  </a:ext>
                </a:extLst>
              </a:tr>
              <a:tr h="6208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b="0" noProof="0" dirty="0">
                          <a:effectLst/>
                        </a:rPr>
                        <a:t>Test 2</a:t>
                      </a:r>
                      <a:endParaRPr lang="en-US" sz="2800" b="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5740" marR="20574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l-PL" sz="2800" b="0" noProof="0" dirty="0">
                          <a:effectLst/>
                        </a:rPr>
                        <a:t>0-10</a:t>
                      </a:r>
                      <a:endParaRPr lang="en-US" sz="2800" b="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5740" marR="205740" marT="0" marB="0"/>
                </a:tc>
                <a:extLst>
                  <a:ext uri="{0D108BD9-81ED-4DB2-BD59-A6C34878D82A}">
                    <a16:rowId xmlns:a16="http://schemas.microsoft.com/office/drawing/2014/main" val="2793647192"/>
                  </a:ext>
                </a:extLst>
              </a:tr>
              <a:tr h="6208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b="0" noProof="0" dirty="0">
                          <a:effectLst/>
                        </a:rPr>
                        <a:t>Test 3</a:t>
                      </a:r>
                      <a:endParaRPr lang="en-US" sz="2800" b="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5740" marR="20574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l-PL" sz="2800" b="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0-10</a:t>
                      </a:r>
                      <a:endParaRPr lang="en-US" sz="2800" b="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5740" marR="205740" marT="0" marB="0"/>
                </a:tc>
                <a:extLst>
                  <a:ext uri="{0D108BD9-81ED-4DB2-BD59-A6C34878D82A}">
                    <a16:rowId xmlns:a16="http://schemas.microsoft.com/office/drawing/2014/main" val="1952510734"/>
                  </a:ext>
                </a:extLst>
              </a:tr>
              <a:tr h="6208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noProof="0" dirty="0">
                          <a:effectLst/>
                        </a:rPr>
                        <a:t>TOTAL </a:t>
                      </a:r>
                      <a:endParaRPr lang="en-US" sz="28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5740" marR="20574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800" b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0-30</a:t>
                      </a:r>
                      <a:endParaRPr lang="en-US" sz="2800" b="1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5740" marR="205740" marT="0" marB="0"/>
                </a:tc>
                <a:extLst>
                  <a:ext uri="{0D108BD9-81ED-4DB2-BD59-A6C34878D82A}">
                    <a16:rowId xmlns:a16="http://schemas.microsoft.com/office/drawing/2014/main" val="2378015488"/>
                  </a:ext>
                </a:extLst>
              </a:tr>
              <a:tr h="6208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l-PL" sz="2800" b="0" i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Bonus point for high </a:t>
                      </a:r>
                      <a:r>
                        <a:rPr lang="pl-PL" sz="2800" b="0" i="1" noProof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attendance</a:t>
                      </a:r>
                      <a:endParaRPr lang="en-US" sz="2800" b="0" i="1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5740" marR="20574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l-PL" sz="2800" b="0" i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0-3</a:t>
                      </a:r>
                      <a:endParaRPr lang="en-US" sz="2800" b="0" i="1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5740" marR="205740" marT="0" marB="0"/>
                </a:tc>
                <a:extLst>
                  <a:ext uri="{0D108BD9-81ED-4DB2-BD59-A6C34878D82A}">
                    <a16:rowId xmlns:a16="http://schemas.microsoft.com/office/drawing/2014/main" val="1421268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5344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71726">
        <p14:prism/>
      </p:transition>
    </mc:Choice>
    <mc:Fallback xmlns="">
      <p:transition spd="slow" advTm="71726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323C843C-BB9F-F359-A3C4-389BFAB44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At the end of </a:t>
            </a:r>
            <a:r>
              <a:rPr lang="pl-PL" dirty="0"/>
              <a:t>the </a:t>
            </a:r>
            <a:r>
              <a:rPr lang="en-US" dirty="0"/>
              <a:t>semester</a:t>
            </a:r>
            <a:r>
              <a:rPr lang="pl-PL" dirty="0"/>
              <a:t> (~January)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pl-PL" dirty="0" err="1"/>
              <a:t>Absence</a:t>
            </a:r>
            <a:r>
              <a:rPr lang="pl-PL" dirty="0"/>
              <a:t> </a:t>
            </a:r>
            <a:r>
              <a:rPr lang="pl-PL" dirty="0" err="1"/>
              <a:t>has</a:t>
            </a:r>
            <a:r>
              <a:rPr lang="pl-PL" dirty="0"/>
              <a:t> to be c</a:t>
            </a:r>
            <a:r>
              <a:rPr lang="en-US" dirty="0" err="1"/>
              <a:t>onfirmed</a:t>
            </a:r>
            <a:r>
              <a:rPr lang="en-US" dirty="0"/>
              <a:t> by </a:t>
            </a:r>
            <a:r>
              <a:rPr lang="pl-PL" dirty="0"/>
              <a:t>a </a:t>
            </a:r>
            <a:r>
              <a:rPr lang="en-US" dirty="0"/>
              <a:t>sick </a:t>
            </a:r>
            <a:r>
              <a:rPr lang="en-US" dirty="0" err="1"/>
              <a:t>leav</a:t>
            </a:r>
            <a:r>
              <a:rPr lang="pl-PL" dirty="0"/>
              <a:t>e (</a:t>
            </a:r>
            <a:r>
              <a:rPr lang="pl-PL" dirty="0" err="1">
                <a:solidFill>
                  <a:srgbClr val="FF0000"/>
                </a:solidFill>
              </a:rPr>
              <a:t>within</a:t>
            </a:r>
            <a:r>
              <a:rPr lang="pl-PL" dirty="0">
                <a:solidFill>
                  <a:srgbClr val="FF0000"/>
                </a:solidFill>
              </a:rPr>
              <a:t> 7 </a:t>
            </a:r>
            <a:r>
              <a:rPr lang="pl-PL" dirty="0" err="1">
                <a:solidFill>
                  <a:srgbClr val="FF0000"/>
                </a:solidFill>
              </a:rPr>
              <a:t>days</a:t>
            </a:r>
            <a:r>
              <a:rPr lang="pl-PL" dirty="0"/>
              <a:t>)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6D89C42E-F8EA-55DF-48A0-D634D5DC0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6</a:t>
            </a:fld>
            <a:endParaRPr lang="pl-PL"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1F28A227-2EE6-83AA-612F-04A895895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Test For </a:t>
            </a:r>
            <a:r>
              <a:rPr lang="pl-PL" dirty="0" err="1"/>
              <a:t>Absent</a:t>
            </a:r>
            <a:r>
              <a:rPr lang="pl-PL" dirty="0"/>
              <a:t> </a:t>
            </a:r>
            <a:r>
              <a:rPr lang="pl-PL" dirty="0" err="1"/>
              <a:t>Students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01945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3816">
        <p14:prism/>
      </p:transition>
    </mc:Choice>
    <mc:Fallback xmlns="">
      <p:transition spd="slow" advTm="33816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Symbol zastępczy zawartości 4">
            <a:extLst>
              <a:ext uri="{FF2B5EF4-FFF2-40B4-BE49-F238E27FC236}">
                <a16:creationId xmlns:a16="http://schemas.microsoft.com/office/drawing/2014/main" id="{FDAE31E2-5969-4434-A806-67653374A2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4051036"/>
              </p:ext>
            </p:extLst>
          </p:nvPr>
        </p:nvGraphicFramePr>
        <p:xfrm>
          <a:off x="838200" y="1825625"/>
          <a:ext cx="10515599" cy="3403771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5316039">
                  <a:extLst>
                    <a:ext uri="{9D8B030D-6E8A-4147-A177-3AD203B41FA5}">
                      <a16:colId xmlns:a16="http://schemas.microsoft.com/office/drawing/2014/main" val="3233469151"/>
                    </a:ext>
                  </a:extLst>
                </a:gridCol>
                <a:gridCol w="5199560">
                  <a:extLst>
                    <a:ext uri="{9D8B030D-6E8A-4147-A177-3AD203B41FA5}">
                      <a16:colId xmlns:a16="http://schemas.microsoft.com/office/drawing/2014/main" val="150864995"/>
                    </a:ext>
                  </a:extLst>
                </a:gridCol>
              </a:tblGrid>
              <a:tr h="486253">
                <a:tc>
                  <a:txBody>
                    <a:bodyPr/>
                    <a:lstStyle/>
                    <a:p>
                      <a:pPr marL="813816" indent="-22860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u="none" strike="noStrike" noProof="0" dirty="0">
                          <a:effectLst/>
                        </a:rPr>
                        <a:t>Total Points</a:t>
                      </a:r>
                      <a:endParaRPr lang="en-US" sz="4800" b="0" i="0" u="none" strike="noStrike" noProof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2943" marR="192943" marT="26798" marB="0"/>
                </a:tc>
                <a:tc>
                  <a:txBody>
                    <a:bodyPr/>
                    <a:lstStyle/>
                    <a:p>
                      <a:pPr marL="813816" indent="-22860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u="none" strike="noStrike" noProof="0" dirty="0">
                          <a:effectLst/>
                        </a:rPr>
                        <a:t>Final Grade</a:t>
                      </a:r>
                      <a:endParaRPr lang="en-US" sz="4800" b="0" i="0" u="none" strike="noStrike" noProof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2943" marR="192943" marT="26798" marB="0"/>
                </a:tc>
                <a:extLst>
                  <a:ext uri="{0D108BD9-81ED-4DB2-BD59-A6C34878D82A}">
                    <a16:rowId xmlns:a16="http://schemas.microsoft.com/office/drawing/2014/main" val="219341894"/>
                  </a:ext>
                </a:extLst>
              </a:tr>
              <a:tr h="486253">
                <a:tc>
                  <a:txBody>
                    <a:bodyPr/>
                    <a:lstStyle/>
                    <a:p>
                      <a:pPr marL="813816" indent="-22860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u="none" strike="noStrike" noProof="0" dirty="0">
                          <a:effectLst/>
                        </a:rPr>
                        <a:t>&gt;= </a:t>
                      </a:r>
                      <a:r>
                        <a:rPr lang="pl-PL" sz="2800" b="0" u="none" strike="noStrike" noProof="0" dirty="0">
                          <a:effectLst/>
                        </a:rPr>
                        <a:t>27</a:t>
                      </a:r>
                      <a:endParaRPr lang="en-US" sz="4800" b="0" i="0" u="none" strike="noStrike" noProof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2943" marR="192943" marT="26798" marB="0"/>
                </a:tc>
                <a:tc>
                  <a:txBody>
                    <a:bodyPr/>
                    <a:lstStyle/>
                    <a:p>
                      <a:pPr marL="813816" indent="-22860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u="none" strike="noStrike" noProof="0" dirty="0">
                          <a:effectLst/>
                        </a:rPr>
                        <a:t>5.0</a:t>
                      </a:r>
                      <a:endParaRPr lang="en-US" sz="4800" b="0" i="0" u="none" strike="noStrike" noProof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2943" marR="192943" marT="26798" marB="0"/>
                </a:tc>
                <a:extLst>
                  <a:ext uri="{0D108BD9-81ED-4DB2-BD59-A6C34878D82A}">
                    <a16:rowId xmlns:a16="http://schemas.microsoft.com/office/drawing/2014/main" val="940452096"/>
                  </a:ext>
                </a:extLst>
              </a:tr>
              <a:tr h="486253">
                <a:tc>
                  <a:txBody>
                    <a:bodyPr/>
                    <a:lstStyle/>
                    <a:p>
                      <a:pPr marL="813816" indent="-22860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u="none" strike="noStrike" noProof="0" dirty="0">
                          <a:effectLst/>
                        </a:rPr>
                        <a:t>&gt;= </a:t>
                      </a:r>
                      <a:r>
                        <a:rPr lang="pl-PL" sz="2800" b="0" u="none" strike="noStrike" noProof="0" dirty="0">
                          <a:effectLst/>
                        </a:rPr>
                        <a:t>24</a:t>
                      </a:r>
                      <a:endParaRPr lang="en-US" sz="4800" b="0" i="0" u="none" strike="noStrike" noProof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2943" marR="192943" marT="26798" marB="0"/>
                </a:tc>
                <a:tc>
                  <a:txBody>
                    <a:bodyPr/>
                    <a:lstStyle/>
                    <a:p>
                      <a:pPr marL="813816" indent="-22860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u="none" strike="noStrike" noProof="0" dirty="0">
                          <a:effectLst/>
                        </a:rPr>
                        <a:t>4.5</a:t>
                      </a:r>
                      <a:endParaRPr lang="en-US" sz="4800" b="0" i="0" u="none" strike="noStrike" noProof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2943" marR="192943" marT="26798" marB="0"/>
                </a:tc>
                <a:extLst>
                  <a:ext uri="{0D108BD9-81ED-4DB2-BD59-A6C34878D82A}">
                    <a16:rowId xmlns:a16="http://schemas.microsoft.com/office/drawing/2014/main" val="1787282377"/>
                  </a:ext>
                </a:extLst>
              </a:tr>
              <a:tr h="486253">
                <a:tc>
                  <a:txBody>
                    <a:bodyPr/>
                    <a:lstStyle/>
                    <a:p>
                      <a:pPr marL="813816" indent="-22860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u="none" strike="noStrike" noProof="0" dirty="0">
                          <a:effectLst/>
                        </a:rPr>
                        <a:t>&gt;= </a:t>
                      </a:r>
                      <a:r>
                        <a:rPr lang="pl-PL" sz="2800" b="0" u="none" strike="noStrike" noProof="0" dirty="0">
                          <a:effectLst/>
                        </a:rPr>
                        <a:t>21</a:t>
                      </a:r>
                      <a:endParaRPr lang="en-US" sz="4800" b="0" i="0" u="none" strike="noStrike" noProof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2943" marR="192943" marT="26798" marB="0"/>
                </a:tc>
                <a:tc>
                  <a:txBody>
                    <a:bodyPr/>
                    <a:lstStyle/>
                    <a:p>
                      <a:pPr marL="813816" indent="-22860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u="none" strike="noStrike" noProof="0" dirty="0">
                          <a:effectLst/>
                        </a:rPr>
                        <a:t>4.0</a:t>
                      </a:r>
                      <a:endParaRPr lang="en-US" sz="4800" b="0" i="0" u="none" strike="noStrike" noProof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2943" marR="192943" marT="26798" marB="0"/>
                </a:tc>
                <a:extLst>
                  <a:ext uri="{0D108BD9-81ED-4DB2-BD59-A6C34878D82A}">
                    <a16:rowId xmlns:a16="http://schemas.microsoft.com/office/drawing/2014/main" val="3604420269"/>
                  </a:ext>
                </a:extLst>
              </a:tr>
              <a:tr h="486253">
                <a:tc>
                  <a:txBody>
                    <a:bodyPr/>
                    <a:lstStyle/>
                    <a:p>
                      <a:pPr marL="813816" indent="-22860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u="none" strike="noStrike" noProof="0" dirty="0">
                          <a:effectLst/>
                        </a:rPr>
                        <a:t>&gt;= </a:t>
                      </a:r>
                      <a:r>
                        <a:rPr lang="pl-PL" sz="2800" b="0" u="none" strike="noStrike" noProof="0" dirty="0">
                          <a:effectLst/>
                        </a:rPr>
                        <a:t>18</a:t>
                      </a:r>
                      <a:endParaRPr lang="en-US" sz="4800" b="0" i="0" u="none" strike="noStrike" noProof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2943" marR="192943" marT="26798" marB="0"/>
                </a:tc>
                <a:tc>
                  <a:txBody>
                    <a:bodyPr/>
                    <a:lstStyle/>
                    <a:p>
                      <a:pPr marL="813816" indent="-22860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u="none" strike="noStrike" noProof="0">
                          <a:effectLst/>
                        </a:rPr>
                        <a:t>3.5</a:t>
                      </a:r>
                      <a:endParaRPr lang="en-US" sz="4800" b="0" i="0" u="none" strike="noStrike" noProof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2943" marR="192943" marT="26798" marB="0"/>
                </a:tc>
                <a:extLst>
                  <a:ext uri="{0D108BD9-81ED-4DB2-BD59-A6C34878D82A}">
                    <a16:rowId xmlns:a16="http://schemas.microsoft.com/office/drawing/2014/main" val="2907695908"/>
                  </a:ext>
                </a:extLst>
              </a:tr>
              <a:tr h="486253">
                <a:tc>
                  <a:txBody>
                    <a:bodyPr/>
                    <a:lstStyle/>
                    <a:p>
                      <a:pPr marL="813816" indent="-22860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u="none" strike="noStrike" noProof="0" dirty="0">
                          <a:effectLst/>
                        </a:rPr>
                        <a:t>&gt;= </a:t>
                      </a:r>
                      <a:r>
                        <a:rPr lang="pl-PL" sz="2800" b="0" u="none" strike="noStrike" noProof="0" dirty="0">
                          <a:effectLst/>
                        </a:rPr>
                        <a:t>15</a:t>
                      </a:r>
                      <a:endParaRPr lang="en-US" sz="4800" b="0" i="0" u="none" strike="noStrike" noProof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2943" marR="192943" marT="26798" marB="0"/>
                </a:tc>
                <a:tc>
                  <a:txBody>
                    <a:bodyPr/>
                    <a:lstStyle/>
                    <a:p>
                      <a:pPr marL="813816" indent="-22860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u="none" strike="noStrike" noProof="0" dirty="0">
                          <a:effectLst/>
                        </a:rPr>
                        <a:t>3.0</a:t>
                      </a:r>
                      <a:endParaRPr lang="en-US" sz="4800" b="0" i="0" u="none" strike="noStrike" noProof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2943" marR="192943" marT="26798" marB="0"/>
                </a:tc>
                <a:extLst>
                  <a:ext uri="{0D108BD9-81ED-4DB2-BD59-A6C34878D82A}">
                    <a16:rowId xmlns:a16="http://schemas.microsoft.com/office/drawing/2014/main" val="262549790"/>
                  </a:ext>
                </a:extLst>
              </a:tr>
              <a:tr h="486253">
                <a:tc>
                  <a:txBody>
                    <a:bodyPr/>
                    <a:lstStyle/>
                    <a:p>
                      <a:pPr marL="813816" indent="-22860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u="none" strike="noStrike" noProof="0" dirty="0">
                          <a:effectLst/>
                        </a:rPr>
                        <a:t>&lt; </a:t>
                      </a:r>
                      <a:r>
                        <a:rPr lang="pl-PL" sz="2800" b="0" u="none" strike="noStrike" noProof="0" dirty="0">
                          <a:effectLst/>
                        </a:rPr>
                        <a:t>15</a:t>
                      </a:r>
                      <a:endParaRPr lang="en-US" sz="4800" b="0" i="0" u="none" strike="noStrike" noProof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2943" marR="192943" marT="26798" marB="0"/>
                </a:tc>
                <a:tc>
                  <a:txBody>
                    <a:bodyPr/>
                    <a:lstStyle/>
                    <a:p>
                      <a:pPr marL="813816" indent="-22860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u="none" strike="noStrike" noProof="0" dirty="0">
                          <a:effectLst/>
                        </a:rPr>
                        <a:t>2.0</a:t>
                      </a:r>
                      <a:endParaRPr lang="en-US" sz="4800" b="0" i="0" u="none" strike="noStrike" noProof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2943" marR="192943" marT="26798" marB="0"/>
                </a:tc>
                <a:extLst>
                  <a:ext uri="{0D108BD9-81ED-4DB2-BD59-A6C34878D82A}">
                    <a16:rowId xmlns:a16="http://schemas.microsoft.com/office/drawing/2014/main" val="1127735424"/>
                  </a:ext>
                </a:extLst>
              </a:tr>
            </a:tbl>
          </a:graphicData>
        </a:graphic>
      </p:graphicFrame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C3B051AA-BFAC-4933-B524-4C710B9DA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en-US" smtClean="0"/>
              <a:t>7</a:t>
            </a:fld>
            <a:endParaRPr lang="en-US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B1D4C4CF-AE5B-41D2-9402-92AB02430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Grade</a:t>
            </a:r>
          </a:p>
        </p:txBody>
      </p:sp>
    </p:spTree>
    <p:extLst>
      <p:ext uri="{BB962C8B-B14F-4D97-AF65-F5344CB8AC3E}">
        <p14:creationId xmlns:p14="http://schemas.microsoft.com/office/powerpoint/2010/main" val="481222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78624">
        <p14:prism/>
      </p:transition>
    </mc:Choice>
    <mc:Fallback xmlns="">
      <p:transition spd="slow" advTm="78624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5DE35A-36F4-48CE-5B82-D9ABD4736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</a:t>
            </a:r>
            <a:r>
              <a:rPr lang="en-US" dirty="0" err="1"/>
              <a:t>ervices</a:t>
            </a:r>
            <a:r>
              <a:rPr lang="en-US" dirty="0"/>
              <a:t> </a:t>
            </a:r>
            <a:r>
              <a:rPr lang="pl-PL" dirty="0"/>
              <a:t>N</a:t>
            </a:r>
            <a:r>
              <a:rPr lang="en-US" dirty="0" err="1"/>
              <a:t>ecessary</a:t>
            </a:r>
            <a:r>
              <a:rPr lang="en-US" dirty="0"/>
              <a:t> for </a:t>
            </a:r>
            <a:r>
              <a:rPr lang="pl-PL" dirty="0"/>
              <a:t>C</a:t>
            </a:r>
            <a:r>
              <a:rPr lang="en-US" dirty="0" err="1"/>
              <a:t>ourse</a:t>
            </a:r>
            <a:endParaRPr lang="en-US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C593541-A8CA-3595-EFED-636ACE762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Log in to </a:t>
            </a:r>
            <a:r>
              <a:rPr lang="pl-PL" b="1" dirty="0" err="1"/>
              <a:t>Teams</a:t>
            </a:r>
            <a:r>
              <a:rPr lang="pl-PL" dirty="0"/>
              <a:t>, </a:t>
            </a:r>
            <a:r>
              <a:rPr lang="pl-PL" b="1" dirty="0" err="1"/>
              <a:t>Moodle</a:t>
            </a:r>
            <a:r>
              <a:rPr lang="pl-PL" dirty="0"/>
              <a:t>, and </a:t>
            </a:r>
            <a:r>
              <a:rPr lang="pl-PL" b="1" dirty="0" err="1"/>
              <a:t>Github</a:t>
            </a:r>
            <a:endParaRPr lang="pl-PL" b="1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47E464A5-B833-B951-CEBB-D761B64A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8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05848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25721">
        <p14:prism/>
      </p:transition>
    </mc:Choice>
    <mc:Fallback xmlns="">
      <p:transition spd="slow" advTm="25721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3BEF4DD1-DF03-4BD7-972C-609EAA9D8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l-PL" dirty="0"/>
              <a:t>Run Microsoft </a:t>
            </a:r>
            <a:r>
              <a:rPr lang="pl-PL" dirty="0" err="1"/>
              <a:t>Teams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Log in to your account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Display team list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Select „</a:t>
            </a:r>
            <a:r>
              <a:rPr lang="pl-PL" dirty="0" err="1"/>
              <a:t>join</a:t>
            </a:r>
            <a:r>
              <a:rPr lang="pl-PL" dirty="0"/>
              <a:t> a team”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 err="1"/>
              <a:t>Use</a:t>
            </a:r>
            <a:r>
              <a:rPr lang="pl-PL" dirty="0"/>
              <a:t> a team code</a:t>
            </a:r>
            <a:br>
              <a:rPr lang="pl-PL" dirty="0"/>
            </a:br>
            <a:r>
              <a:rPr lang="pl-PL" dirty="0">
                <a:solidFill>
                  <a:srgbClr val="00B0F0"/>
                </a:solidFill>
              </a:rPr>
              <a:t>76wfate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9E7A3CE-C572-405A-92A2-0E1533B68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Tytuł 4">
            <a:extLst>
              <a:ext uri="{FF2B5EF4-FFF2-40B4-BE49-F238E27FC236}">
                <a16:creationId xmlns:a16="http://schemas.microsoft.com/office/drawing/2014/main" id="{E5EAA86D-7FAF-4F5F-B693-8A5642336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up for </a:t>
            </a:r>
            <a:r>
              <a:rPr lang="pl-PL" dirty="0"/>
              <a:t>C</a:t>
            </a:r>
            <a:r>
              <a:rPr lang="en-US" dirty="0" err="1"/>
              <a:t>ourse</a:t>
            </a:r>
            <a:r>
              <a:rPr lang="en-US" dirty="0"/>
              <a:t> on Teams</a:t>
            </a:r>
          </a:p>
        </p:txBody>
      </p:sp>
    </p:spTree>
    <p:extLst>
      <p:ext uri="{BB962C8B-B14F-4D97-AF65-F5344CB8AC3E}">
        <p14:creationId xmlns:p14="http://schemas.microsoft.com/office/powerpoint/2010/main" val="320788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614">
        <p14:prism/>
      </p:transition>
    </mc:Choice>
    <mc:Fallback xmlns="">
      <p:transition spd="slow" advTm="30614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C7200191-8C7A-20BB-91B3-C7A0EB4D7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Log in to Moodle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https://moodle.uek.krakow.pl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Find the course</a:t>
            </a:r>
            <a:br>
              <a:rPr lang="en-US" dirty="0"/>
            </a:br>
            <a:r>
              <a:rPr lang="pl-PL" dirty="0"/>
              <a:t>Podstawy Programowania</a:t>
            </a:r>
            <a:r>
              <a:rPr lang="en-US" dirty="0"/>
              <a:t> /</a:t>
            </a:r>
            <a:r>
              <a:rPr lang="pl-PL" dirty="0"/>
              <a:t> Fundamentals </a:t>
            </a:r>
            <a:r>
              <a:rPr lang="pl-PL"/>
              <a:t>of Programming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Sign up for the course</a:t>
            </a:r>
            <a:br>
              <a:rPr lang="en-US" dirty="0"/>
            </a:br>
            <a:r>
              <a:rPr lang="en-US" dirty="0"/>
              <a:t>As the access key, </a:t>
            </a:r>
            <a:r>
              <a:rPr lang="en-US" dirty="0">
                <a:solidFill>
                  <a:srgbClr val="00B0F0"/>
                </a:solidFill>
              </a:rPr>
              <a:t>use your full group number </a:t>
            </a:r>
            <a:r>
              <a:rPr lang="en-US" dirty="0"/>
              <a:t>(from University Schedule)</a:t>
            </a:r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A70B44C6-5C3F-0145-376A-1D3B45408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10</a:t>
            </a:fld>
            <a:endParaRPr lang="pl-PL"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3E295D64-ECD7-4481-0A0D-7A4B9E509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up for Course on Moodle</a:t>
            </a:r>
          </a:p>
        </p:txBody>
      </p:sp>
    </p:spTree>
    <p:extLst>
      <p:ext uri="{BB962C8B-B14F-4D97-AF65-F5344CB8AC3E}">
        <p14:creationId xmlns:p14="http://schemas.microsoft.com/office/powerpoint/2010/main" val="1144236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598">
        <p14:prism/>
      </p:transition>
    </mc:Choice>
    <mc:Fallback xmlns="">
      <p:transition spd="slow" advTm="30598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27533B2D-CAC7-E97B-7182-1838AAEFB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Go to the </a:t>
            </a:r>
            <a:r>
              <a:rPr lang="en-US" dirty="0" err="1"/>
              <a:t>Github</a:t>
            </a:r>
            <a:r>
              <a:rPr lang="en-US" dirty="0"/>
              <a:t> service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https://github.com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an account or use </a:t>
            </a:r>
            <a:r>
              <a:rPr lang="pl-PL" dirty="0"/>
              <a:t>the one </a:t>
            </a:r>
            <a:r>
              <a:rPr lang="pl-PL" dirty="0" err="1"/>
              <a:t>you</a:t>
            </a:r>
            <a:r>
              <a:rPr lang="pl-PL" dirty="0"/>
              <a:t> </a:t>
            </a:r>
            <a:r>
              <a:rPr lang="pl-PL" dirty="0" err="1"/>
              <a:t>have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pl-PL" dirty="0" err="1">
                <a:solidFill>
                  <a:srgbClr val="FF0000"/>
                </a:solidFill>
              </a:rPr>
              <a:t>Important</a:t>
            </a:r>
            <a:r>
              <a:rPr lang="pl-PL" dirty="0">
                <a:solidFill>
                  <a:srgbClr val="FF0000"/>
                </a:solidFill>
              </a:rPr>
              <a:t>!!</a:t>
            </a:r>
            <a:br>
              <a:rPr lang="pl-PL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In </a:t>
            </a:r>
            <a:r>
              <a:rPr lang="en-US" dirty="0" err="1">
                <a:solidFill>
                  <a:srgbClr val="FF0000"/>
                </a:solidFill>
              </a:rPr>
              <a:t>Github</a:t>
            </a:r>
            <a:r>
              <a:rPr lang="en-US" dirty="0">
                <a:solidFill>
                  <a:srgbClr val="FF0000"/>
                </a:solidFill>
              </a:rPr>
              <a:t> Settings</a:t>
            </a:r>
            <a:r>
              <a:rPr lang="pl-PL" dirty="0">
                <a:solidFill>
                  <a:srgbClr val="FF0000"/>
                </a:solidFill>
              </a:rPr>
              <a:t>,</a:t>
            </a:r>
            <a:r>
              <a:rPr lang="en-US" dirty="0">
                <a:solidFill>
                  <a:srgbClr val="FF0000"/>
                </a:solidFill>
              </a:rPr>
              <a:t> enter your </a:t>
            </a:r>
            <a:r>
              <a:rPr lang="pl-PL" dirty="0">
                <a:solidFill>
                  <a:srgbClr val="FF0000"/>
                </a:solidFill>
              </a:rPr>
              <a:t>real </a:t>
            </a:r>
            <a:r>
              <a:rPr lang="en-US" dirty="0">
                <a:solidFill>
                  <a:srgbClr val="FF0000"/>
                </a:solidFill>
              </a:rPr>
              <a:t>full name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(first and last name)</a:t>
            </a:r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B6E3FAFF-A353-DA4D-B1E1-D592F1822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11</a:t>
            </a:fld>
            <a:endParaRPr lang="pl-PL"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5DD48AC1-5D6A-17F7-07D1-9AE9BB0E4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Account on </a:t>
            </a:r>
            <a:r>
              <a:rPr lang="en-US" dirty="0" err="1"/>
              <a:t>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284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6298">
        <p14:prism/>
      </p:transition>
    </mc:Choice>
    <mc:Fallback xmlns="">
      <p:transition spd="slow" advTm="36298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D53BE413-5EBF-69E5-69B0-2BCC40EBB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l-PL" dirty="0"/>
              <a:t>Log in to </a:t>
            </a:r>
            <a:r>
              <a:rPr lang="pl-PL" dirty="0" err="1"/>
              <a:t>Github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pl-PL" dirty="0" err="1"/>
              <a:t>Find</a:t>
            </a:r>
            <a:r>
              <a:rPr lang="pl-PL" dirty="0"/>
              <a:t> the </a:t>
            </a:r>
            <a:r>
              <a:rPr lang="pl-PL" dirty="0" err="1"/>
              <a:t>course</a:t>
            </a:r>
            <a:r>
              <a:rPr lang="pl-PL" dirty="0"/>
              <a:t> materials (</a:t>
            </a:r>
            <a:r>
              <a:rPr lang="pl-PL" dirty="0" err="1"/>
              <a:t>github</a:t>
            </a:r>
            <a:r>
              <a:rPr lang="pl-PL" dirty="0"/>
              <a:t> </a:t>
            </a:r>
            <a:r>
              <a:rPr lang="pl-PL" dirty="0" err="1"/>
              <a:t>repository</a:t>
            </a:r>
            <a:r>
              <a:rPr lang="pl-PL" dirty="0"/>
              <a:t>)</a:t>
            </a:r>
            <a:br>
              <a:rPr lang="pl-PL" dirty="0"/>
            </a:br>
            <a:r>
              <a:rPr lang="pl-PL" dirty="0">
                <a:solidFill>
                  <a:srgbClr val="00B0F0"/>
                </a:solidFill>
              </a:rPr>
              <a:t>stalj/</a:t>
            </a:r>
            <a:r>
              <a:rPr lang="pl-PL" dirty="0" err="1">
                <a:solidFill>
                  <a:srgbClr val="00B0F0"/>
                </a:solidFill>
              </a:rPr>
              <a:t>prg-basics</a:t>
            </a:r>
            <a:endParaRPr lang="pl-PL" dirty="0">
              <a:solidFill>
                <a:srgbClr val="00B0F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pl-PL" dirty="0" err="1"/>
              <a:t>Fork</a:t>
            </a:r>
            <a:r>
              <a:rPr lang="pl-PL" dirty="0"/>
              <a:t> (</a:t>
            </a:r>
            <a:r>
              <a:rPr lang="pl-PL" dirty="0" err="1"/>
              <a:t>copy</a:t>
            </a:r>
            <a:r>
              <a:rPr lang="pl-PL" dirty="0"/>
              <a:t>) the </a:t>
            </a:r>
            <a:r>
              <a:rPr lang="pl-PL" dirty="0" err="1"/>
              <a:t>repository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M</a:t>
            </a:r>
            <a:r>
              <a:rPr lang="en-US" dirty="0" err="1"/>
              <a:t>ake</a:t>
            </a:r>
            <a:r>
              <a:rPr lang="en-US" dirty="0"/>
              <a:t> sure you have your own </a:t>
            </a:r>
            <a:r>
              <a:rPr lang="pl-PL" dirty="0" err="1"/>
              <a:t>private</a:t>
            </a:r>
            <a:r>
              <a:rPr lang="pl-PL" dirty="0"/>
              <a:t> </a:t>
            </a:r>
            <a:r>
              <a:rPr lang="en-US" dirty="0"/>
              <a:t>copy of the course</a:t>
            </a:r>
            <a:r>
              <a:rPr lang="pl-PL" dirty="0"/>
              <a:t> </a:t>
            </a:r>
            <a:r>
              <a:rPr lang="en-US" dirty="0"/>
              <a:t>materials</a:t>
            </a:r>
            <a:r>
              <a:rPr lang="pl-PL" dirty="0"/>
              <a:t> on </a:t>
            </a:r>
            <a:r>
              <a:rPr lang="pl-PL" dirty="0" err="1"/>
              <a:t>your</a:t>
            </a:r>
            <a:r>
              <a:rPr lang="pl-PL" dirty="0"/>
              <a:t> </a:t>
            </a:r>
            <a:r>
              <a:rPr lang="pl-PL" dirty="0" err="1"/>
              <a:t>account</a:t>
            </a:r>
            <a:r>
              <a:rPr lang="pl-PL" dirty="0"/>
              <a:t> on </a:t>
            </a:r>
            <a:r>
              <a:rPr lang="pl-PL" dirty="0" err="1"/>
              <a:t>Github</a:t>
            </a:r>
            <a:endParaRPr lang="pl-PL" dirty="0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B1A3D5F1-734F-8A9B-C47C-6D76864C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12</a:t>
            </a:fld>
            <a:endParaRPr lang="pl-PL"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B790DEAE-7768-9BCE-6188-0F4D4EAA6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</a:t>
            </a:r>
            <a:r>
              <a:rPr lang="pl-PL" dirty="0"/>
              <a:t> </a:t>
            </a:r>
            <a:r>
              <a:rPr lang="en-US" dirty="0"/>
              <a:t>Copy of Class Materials</a:t>
            </a:r>
          </a:p>
        </p:txBody>
      </p:sp>
    </p:spTree>
    <p:extLst>
      <p:ext uri="{BB962C8B-B14F-4D97-AF65-F5344CB8AC3E}">
        <p14:creationId xmlns:p14="http://schemas.microsoft.com/office/powerpoint/2010/main" val="1234291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21875">
        <p14:prism/>
      </p:transition>
    </mc:Choice>
    <mc:Fallback xmlns="">
      <p:transition spd="slow" advTm="21875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FA82766-5AC7-26AF-F9A7-76097122B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Homework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7DF4AEE-6507-A6EF-BEAB-6DD815C42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Tools Installation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6883032-481E-868B-97E0-14DDF0F9B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13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84066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21250">
        <p14:prism/>
      </p:transition>
    </mc:Choice>
    <mc:Fallback xmlns="">
      <p:transition spd="slow" advTm="2125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41A4E552-EB96-3118-0DE6-433C62285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pl-PL" dirty="0"/>
          </a:p>
          <a:p>
            <a:pPr algn="ctr"/>
            <a:r>
              <a:rPr lang="en-US" sz="4000" dirty="0"/>
              <a:t>Python Tutorial for Beginners with VS Code</a:t>
            </a:r>
            <a:br>
              <a:rPr lang="pl-PL" dirty="0"/>
            </a:br>
            <a:r>
              <a:rPr lang="pl-PL" dirty="0"/>
              <a:t>by </a:t>
            </a:r>
            <a:r>
              <a:rPr lang="pl-PL" dirty="0" err="1"/>
              <a:t>Dave</a:t>
            </a:r>
            <a:r>
              <a:rPr lang="pl-PL" dirty="0"/>
              <a:t> Gray</a:t>
            </a:r>
          </a:p>
          <a:p>
            <a:pPr algn="ctr"/>
            <a:endParaRPr lang="pl-PL" dirty="0"/>
          </a:p>
          <a:p>
            <a:pPr algn="ctr"/>
            <a:r>
              <a:rPr lang="pl-PL" dirty="0">
                <a:solidFill>
                  <a:srgbClr val="00B0F0"/>
                </a:solidFill>
              </a:rPr>
              <a:t>https://youtu.be/6i3e-j3wSf0</a:t>
            </a:r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4E6ED0CE-9FFF-3EAA-DF14-D0DDBC91C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14</a:t>
            </a:fld>
            <a:endParaRPr lang="pl-PL"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1BE42FBC-FCC1-9A19-C2B7-7486DCE74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Watch the video</a:t>
            </a:r>
          </a:p>
        </p:txBody>
      </p:sp>
    </p:spTree>
    <p:extLst>
      <p:ext uri="{BB962C8B-B14F-4D97-AF65-F5344CB8AC3E}">
        <p14:creationId xmlns:p14="http://schemas.microsoft.com/office/powerpoint/2010/main" val="2173447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22818">
        <p14:prism/>
      </p:transition>
    </mc:Choice>
    <mc:Fallback xmlns="">
      <p:transition spd="slow" advTm="22818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D596D83F-4F44-8D17-E36F-5076A9D45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l-PL" dirty="0" err="1"/>
              <a:t>Install</a:t>
            </a:r>
            <a:r>
              <a:rPr lang="pl-PL" dirty="0"/>
              <a:t> </a:t>
            </a:r>
            <a:r>
              <a:rPr lang="pl-PL" dirty="0" err="1"/>
              <a:t>Python</a:t>
            </a:r>
            <a:br>
              <a:rPr lang="pl-PL" dirty="0"/>
            </a:br>
            <a:r>
              <a:rPr lang="pl-PL" dirty="0">
                <a:solidFill>
                  <a:srgbClr val="00B0F0"/>
                </a:solidFill>
              </a:rPr>
              <a:t>https://www.python.org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 err="1"/>
              <a:t>Check</a:t>
            </a:r>
            <a:r>
              <a:rPr lang="pl-PL" dirty="0"/>
              <a:t> </a:t>
            </a:r>
            <a:r>
              <a:rPr lang="pl-PL" dirty="0" err="1"/>
              <a:t>Python</a:t>
            </a:r>
            <a:r>
              <a:rPr lang="pl-PL" dirty="0"/>
              <a:t> on </a:t>
            </a:r>
            <a:r>
              <a:rPr lang="pl-PL" dirty="0" err="1"/>
              <a:t>your</a:t>
            </a:r>
            <a:r>
              <a:rPr lang="pl-PL" dirty="0"/>
              <a:t> </a:t>
            </a:r>
            <a:r>
              <a:rPr lang="pl-PL" dirty="0" err="1"/>
              <a:t>computer</a:t>
            </a:r>
            <a:endParaRPr lang="pl-PL" dirty="0"/>
          </a:p>
          <a:p>
            <a:pPr marL="1143000" lvl="1" indent="-457200"/>
            <a:r>
              <a:rPr lang="pl-PL" dirty="0"/>
              <a:t>Open </a:t>
            </a:r>
            <a:r>
              <a:rPr lang="pl-PL" dirty="0" err="1"/>
              <a:t>command</a:t>
            </a:r>
            <a:r>
              <a:rPr lang="pl-PL" dirty="0"/>
              <a:t> </a:t>
            </a:r>
            <a:r>
              <a:rPr lang="pl-PL" dirty="0" err="1"/>
              <a:t>prompt</a:t>
            </a:r>
            <a:r>
              <a:rPr lang="pl-PL" dirty="0"/>
              <a:t> </a:t>
            </a:r>
            <a:r>
              <a:rPr lang="pl-PL" dirty="0" err="1"/>
              <a:t>window</a:t>
            </a:r>
            <a:endParaRPr lang="pl-PL" dirty="0"/>
          </a:p>
          <a:p>
            <a:pPr marL="1143000" lvl="1" indent="-457200"/>
            <a:r>
              <a:rPr lang="pl-PL" dirty="0" err="1"/>
              <a:t>Enter</a:t>
            </a:r>
            <a:r>
              <a:rPr lang="pl-PL" dirty="0"/>
              <a:t> </a:t>
            </a:r>
            <a:r>
              <a:rPr lang="pl-PL" dirty="0" err="1"/>
              <a:t>command</a:t>
            </a:r>
            <a:br>
              <a:rPr lang="pl-PL" dirty="0"/>
            </a:br>
            <a:r>
              <a:rPr lang="pl-PL" b="1" dirty="0" err="1">
                <a:solidFill>
                  <a:srgbClr val="00B0F0"/>
                </a:solidFill>
              </a:rPr>
              <a:t>python</a:t>
            </a:r>
            <a:r>
              <a:rPr lang="pl-PL" b="1" dirty="0">
                <a:solidFill>
                  <a:srgbClr val="00B0F0"/>
                </a:solidFill>
              </a:rPr>
              <a:t> --version</a:t>
            </a:r>
            <a:r>
              <a:rPr lang="pl-PL" dirty="0"/>
              <a:t> </a:t>
            </a:r>
            <a:r>
              <a:rPr lang="pl-PL" dirty="0" err="1"/>
              <a:t>or</a:t>
            </a:r>
            <a:r>
              <a:rPr lang="pl-PL" dirty="0"/>
              <a:t> </a:t>
            </a:r>
            <a:r>
              <a:rPr lang="pl-PL" b="1" dirty="0" err="1">
                <a:solidFill>
                  <a:srgbClr val="00B0F0"/>
                </a:solidFill>
              </a:rPr>
              <a:t>py</a:t>
            </a:r>
            <a:r>
              <a:rPr lang="pl-PL" b="1" dirty="0">
                <a:solidFill>
                  <a:srgbClr val="00B0F0"/>
                </a:solidFill>
              </a:rPr>
              <a:t> --version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endParaRPr lang="pl-PL" dirty="0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32F094E4-3EE5-BD86-19B4-F51BAA570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15</a:t>
            </a:fld>
            <a:endParaRPr lang="pl-PL"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FB82CBAE-3B12-01F5-1914-A7AD00A5E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 Python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688B4B0E-E0BB-7B5D-78AA-9E5630ED7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955" y="1825625"/>
            <a:ext cx="3841845" cy="35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800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28235">
        <p14:prism/>
      </p:transition>
    </mc:Choice>
    <mc:Fallback xmlns="">
      <p:transition spd="slow" advTm="28235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D02C16E2-EC07-237A-F5DD-5BE12A1E6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l-PL" dirty="0" err="1"/>
              <a:t>Install</a:t>
            </a:r>
            <a:r>
              <a:rPr lang="pl-PL" dirty="0"/>
              <a:t> Git Control Version System</a:t>
            </a:r>
            <a:br>
              <a:rPr lang="pl-PL" dirty="0"/>
            </a:br>
            <a:r>
              <a:rPr lang="pl-PL" dirty="0">
                <a:solidFill>
                  <a:srgbClr val="00B0F0"/>
                </a:solidFill>
              </a:rPr>
              <a:t>https://git-scm.com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 err="1"/>
              <a:t>Check</a:t>
            </a:r>
            <a:r>
              <a:rPr lang="pl-PL" dirty="0"/>
              <a:t> Git on </a:t>
            </a:r>
            <a:r>
              <a:rPr lang="pl-PL" dirty="0" err="1"/>
              <a:t>your</a:t>
            </a:r>
            <a:r>
              <a:rPr lang="pl-PL" dirty="0"/>
              <a:t> </a:t>
            </a:r>
            <a:r>
              <a:rPr lang="pl-PL" dirty="0" err="1"/>
              <a:t>computer</a:t>
            </a:r>
            <a:endParaRPr lang="pl-PL" dirty="0"/>
          </a:p>
          <a:p>
            <a:pPr marL="1200150" lvl="1" indent="-514350"/>
            <a:r>
              <a:rPr lang="pl-PL" dirty="0"/>
              <a:t>Open </a:t>
            </a:r>
            <a:r>
              <a:rPr lang="pl-PL" dirty="0" err="1"/>
              <a:t>command</a:t>
            </a:r>
            <a:r>
              <a:rPr lang="pl-PL" dirty="0"/>
              <a:t> </a:t>
            </a:r>
            <a:r>
              <a:rPr lang="pl-PL" dirty="0" err="1"/>
              <a:t>prompt</a:t>
            </a:r>
            <a:r>
              <a:rPr lang="pl-PL" dirty="0"/>
              <a:t> </a:t>
            </a:r>
            <a:r>
              <a:rPr lang="pl-PL" dirty="0" err="1"/>
              <a:t>window</a:t>
            </a:r>
            <a:endParaRPr lang="pl-PL" dirty="0"/>
          </a:p>
          <a:p>
            <a:pPr marL="1200150" lvl="1" indent="-514350"/>
            <a:r>
              <a:rPr lang="pl-PL" dirty="0" err="1"/>
              <a:t>Enter</a:t>
            </a:r>
            <a:r>
              <a:rPr lang="pl-PL" dirty="0"/>
              <a:t> </a:t>
            </a:r>
            <a:r>
              <a:rPr lang="pl-PL" dirty="0" err="1"/>
              <a:t>command</a:t>
            </a:r>
            <a:br>
              <a:rPr lang="pl-PL" dirty="0"/>
            </a:br>
            <a:r>
              <a:rPr lang="pl-PL" b="1" dirty="0">
                <a:solidFill>
                  <a:srgbClr val="00B0F0"/>
                </a:solidFill>
              </a:rPr>
              <a:t>git --version</a:t>
            </a:r>
          </a:p>
          <a:p>
            <a:pPr marL="1200150" lvl="1" indent="-514350"/>
            <a:endParaRPr lang="pl-PL" dirty="0"/>
          </a:p>
          <a:p>
            <a:pPr marL="1200150" lvl="1" indent="-514350"/>
            <a:endParaRPr lang="pl-PL" dirty="0"/>
          </a:p>
          <a:p>
            <a:endParaRPr lang="pl-PL" dirty="0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4B28331B-7102-A938-8E26-E589BB9EB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16</a:t>
            </a:fld>
            <a:endParaRPr lang="pl-PL"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07740801-B4D3-5781-A9A4-0939BC980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 Git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BDD89AAB-D40D-2392-CABA-D660A61A9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125" y="1825625"/>
            <a:ext cx="4189675" cy="2968028"/>
          </a:xfrm>
          <a:prstGeom prst="rect">
            <a:avLst/>
          </a:prstGeom>
        </p:spPr>
      </p:pic>
      <p:pic>
        <p:nvPicPr>
          <p:cNvPr id="5" name="Picture 4" descr="Zobacz obraz źródłowy">
            <a:extLst>
              <a:ext uri="{FF2B5EF4-FFF2-40B4-BE49-F238E27FC236}">
                <a16:creationId xmlns:a16="http://schemas.microsoft.com/office/drawing/2014/main" id="{390D1807-6EF0-E7CE-38C6-82B3012FA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6585" y="4884516"/>
            <a:ext cx="3604753" cy="1201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7956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15743">
        <p14:prism/>
      </p:transition>
    </mc:Choice>
    <mc:Fallback xmlns="">
      <p:transition spd="slow" advTm="15743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022B2B4D-12C6-7E2E-9BAD-A158F0EBE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Install Microsoft Visual Studio Code (</a:t>
            </a:r>
            <a:r>
              <a:rPr lang="en-US" dirty="0" err="1"/>
              <a:t>VSCode</a:t>
            </a:r>
            <a:r>
              <a:rPr lang="en-US" dirty="0"/>
              <a:t>)</a:t>
            </a:r>
            <a:br>
              <a:rPr lang="pl-PL" dirty="0"/>
            </a:br>
            <a:r>
              <a:rPr lang="pl-PL" dirty="0">
                <a:solidFill>
                  <a:srgbClr val="00B0F0"/>
                </a:solidFill>
              </a:rPr>
              <a:t>https://code.visualstudio.com</a:t>
            </a:r>
            <a:r>
              <a:rPr lang="pl-PL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I</a:t>
            </a:r>
            <a:r>
              <a:rPr lang="en-US" dirty="0" err="1"/>
              <a:t>nstall</a:t>
            </a:r>
            <a:r>
              <a:rPr lang="en-US" dirty="0"/>
              <a:t> </a:t>
            </a:r>
            <a:r>
              <a:rPr lang="en-US" dirty="0" err="1"/>
              <a:t>VSCode</a:t>
            </a:r>
            <a:r>
              <a:rPr lang="en-US" dirty="0"/>
              <a:t> extensions for Python</a:t>
            </a:r>
            <a:r>
              <a:rPr lang="pl-PL" dirty="0"/>
              <a:t> (Microsoft)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 err="1"/>
              <a:t>Check</a:t>
            </a:r>
            <a:r>
              <a:rPr lang="pl-PL" dirty="0"/>
              <a:t> </a:t>
            </a:r>
            <a:r>
              <a:rPr lang="pl-PL" dirty="0" err="1"/>
              <a:t>Python</a:t>
            </a:r>
            <a:r>
              <a:rPr lang="pl-PL" dirty="0"/>
              <a:t> </a:t>
            </a:r>
            <a:r>
              <a:rPr lang="pl-PL" dirty="0" err="1"/>
              <a:t>working</a:t>
            </a:r>
            <a:r>
              <a:rPr lang="pl-PL" dirty="0"/>
              <a:t> in </a:t>
            </a:r>
            <a:r>
              <a:rPr lang="pl-PL" dirty="0" err="1"/>
              <a:t>VSCode</a:t>
            </a:r>
            <a:endParaRPr lang="pl-PL" dirty="0"/>
          </a:p>
          <a:p>
            <a:pPr marL="1200150" lvl="1" indent="-514350"/>
            <a:r>
              <a:rPr lang="pl-PL" dirty="0"/>
              <a:t>On </a:t>
            </a:r>
            <a:r>
              <a:rPr lang="pl-PL" dirty="0" err="1"/>
              <a:t>your</a:t>
            </a:r>
            <a:r>
              <a:rPr lang="pl-PL" dirty="0"/>
              <a:t> </a:t>
            </a:r>
            <a:r>
              <a:rPr lang="pl-PL" dirty="0" err="1"/>
              <a:t>computer</a:t>
            </a:r>
            <a:r>
              <a:rPr lang="pl-PL" dirty="0"/>
              <a:t> desktop, </a:t>
            </a:r>
            <a:r>
              <a:rPr lang="pl-PL" dirty="0" err="1"/>
              <a:t>create</a:t>
            </a:r>
            <a:r>
              <a:rPr lang="pl-PL" dirty="0"/>
              <a:t> a folder </a:t>
            </a:r>
            <a:r>
              <a:rPr lang="pl-PL" dirty="0" err="1">
                <a:solidFill>
                  <a:srgbClr val="00B0F0"/>
                </a:solidFill>
              </a:rPr>
              <a:t>TestPython</a:t>
            </a:r>
            <a:endParaRPr lang="pl-PL" dirty="0">
              <a:solidFill>
                <a:srgbClr val="00B0F0"/>
              </a:solidFill>
            </a:endParaRPr>
          </a:p>
          <a:p>
            <a:pPr marL="1200150" lvl="1" indent="-514350"/>
            <a:r>
              <a:rPr lang="pl-PL" dirty="0"/>
              <a:t>Run </a:t>
            </a:r>
            <a:r>
              <a:rPr lang="pl-PL" dirty="0" err="1"/>
              <a:t>VSCode</a:t>
            </a:r>
            <a:endParaRPr lang="pl-PL" dirty="0"/>
          </a:p>
          <a:p>
            <a:pPr marL="1200150" lvl="1" indent="-514350"/>
            <a:r>
              <a:rPr lang="pl-PL" dirty="0"/>
              <a:t>Open the </a:t>
            </a:r>
            <a:r>
              <a:rPr lang="pl-PL" dirty="0" err="1"/>
              <a:t>created</a:t>
            </a:r>
            <a:r>
              <a:rPr lang="pl-PL" dirty="0"/>
              <a:t> folder</a:t>
            </a:r>
            <a:endParaRPr lang="pl-PL" dirty="0">
              <a:solidFill>
                <a:srgbClr val="00B0F0"/>
              </a:solidFill>
            </a:endParaRPr>
          </a:p>
          <a:p>
            <a:pPr marL="1200150" lvl="1" indent="-514350"/>
            <a:r>
              <a:rPr lang="pl-PL" dirty="0"/>
              <a:t>In the folder, </a:t>
            </a:r>
            <a:r>
              <a:rPr lang="pl-PL" dirty="0" err="1"/>
              <a:t>create</a:t>
            </a:r>
            <a:r>
              <a:rPr lang="pl-PL" dirty="0"/>
              <a:t> a file </a:t>
            </a:r>
            <a:r>
              <a:rPr lang="pl-PL" dirty="0">
                <a:solidFill>
                  <a:srgbClr val="00B0F0"/>
                </a:solidFill>
              </a:rPr>
              <a:t>hello.py</a:t>
            </a:r>
          </a:p>
          <a:p>
            <a:pPr marL="1200150" lvl="1" indent="-514350"/>
            <a:r>
              <a:rPr lang="pl-PL" dirty="0" err="1"/>
              <a:t>Enter</a:t>
            </a:r>
            <a:r>
              <a:rPr lang="pl-PL" dirty="0"/>
              <a:t> </a:t>
            </a:r>
            <a:r>
              <a:rPr lang="pl-PL" dirty="0" err="1"/>
              <a:t>Python</a:t>
            </a:r>
            <a:r>
              <a:rPr lang="pl-PL" dirty="0"/>
              <a:t> </a:t>
            </a:r>
            <a:r>
              <a:rPr lang="pl-PL" dirty="0" err="1"/>
              <a:t>statements</a:t>
            </a:r>
            <a:r>
              <a:rPr lang="pl-PL" dirty="0"/>
              <a:t> as </a:t>
            </a:r>
            <a:r>
              <a:rPr lang="pl-PL" dirty="0" err="1"/>
              <a:t>it</a:t>
            </a:r>
            <a:r>
              <a:rPr lang="pl-PL" dirty="0"/>
              <a:t> was in the video</a:t>
            </a:r>
          </a:p>
          <a:p>
            <a:pPr marL="1200150" lvl="1" indent="-514350"/>
            <a:r>
              <a:rPr lang="pl-PL" dirty="0"/>
              <a:t>Run the program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F6E8B0D5-E129-E172-928C-DA5224107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17</a:t>
            </a:fld>
            <a:endParaRPr lang="pl-PL"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4B9CBE0A-D45D-6344-D87E-66CC09ED9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Visual Studio Code</a:t>
            </a:r>
          </a:p>
        </p:txBody>
      </p:sp>
      <p:pic>
        <p:nvPicPr>
          <p:cNvPr id="5" name="Picture 6" descr="Zobacz obraz źródłowy">
            <a:extLst>
              <a:ext uri="{FF2B5EF4-FFF2-40B4-BE49-F238E27FC236}">
                <a16:creationId xmlns:a16="http://schemas.microsoft.com/office/drawing/2014/main" id="{64E73868-FA0F-3C85-8433-E62717024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4838" y="1646238"/>
            <a:ext cx="2525066" cy="189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7860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43869">
        <p14:prism/>
      </p:transition>
    </mc:Choice>
    <mc:Fallback xmlns="">
      <p:transition spd="slow" advTm="43869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F9B3077B-F8DD-C67E-9F11-D4182C72C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l-PL" dirty="0" err="1"/>
              <a:t>Find</a:t>
            </a:r>
            <a:r>
              <a:rPr lang="pl-PL" dirty="0"/>
              <a:t> out on </a:t>
            </a:r>
            <a:r>
              <a:rPr lang="pl-PL" dirty="0" err="1"/>
              <a:t>how</a:t>
            </a:r>
            <a:r>
              <a:rPr lang="pl-PL" dirty="0"/>
              <a:t> to </a:t>
            </a:r>
            <a:r>
              <a:rPr lang="pl-PL" dirty="0" err="1"/>
              <a:t>use</a:t>
            </a:r>
            <a:r>
              <a:rPr lang="pl-PL" dirty="0"/>
              <a:t> Git </a:t>
            </a:r>
            <a:r>
              <a:rPr lang="pl-PL" dirty="0" err="1"/>
              <a:t>command</a:t>
            </a:r>
            <a:br>
              <a:rPr lang="pl-PL" dirty="0"/>
            </a:br>
            <a:r>
              <a:rPr lang="pl-PL" dirty="0">
                <a:solidFill>
                  <a:srgbClr val="00B0F0"/>
                </a:solidFill>
              </a:rPr>
              <a:t>git clone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Open </a:t>
            </a:r>
            <a:r>
              <a:rPr lang="pl-PL" dirty="0" err="1"/>
              <a:t>command</a:t>
            </a:r>
            <a:r>
              <a:rPr lang="pl-PL" dirty="0"/>
              <a:t> </a:t>
            </a:r>
            <a:r>
              <a:rPr lang="pl-PL" dirty="0" err="1"/>
              <a:t>prompt</a:t>
            </a:r>
            <a:r>
              <a:rPr lang="pl-PL" dirty="0"/>
              <a:t> </a:t>
            </a:r>
            <a:r>
              <a:rPr lang="pl-PL" dirty="0" err="1"/>
              <a:t>window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Clone (</a:t>
            </a:r>
            <a:r>
              <a:rPr lang="pl-PL" dirty="0" err="1"/>
              <a:t>copy</a:t>
            </a:r>
            <a:r>
              <a:rPr lang="pl-PL" dirty="0"/>
              <a:t>) </a:t>
            </a:r>
            <a:r>
              <a:rPr lang="pl-PL" dirty="0" err="1"/>
              <a:t>your</a:t>
            </a:r>
            <a:r>
              <a:rPr lang="pl-PL" dirty="0"/>
              <a:t> </a:t>
            </a:r>
            <a:r>
              <a:rPr lang="pl-PL" dirty="0" err="1"/>
              <a:t>own</a:t>
            </a:r>
            <a:r>
              <a:rPr lang="pl-PL" dirty="0"/>
              <a:t> </a:t>
            </a:r>
            <a:r>
              <a:rPr lang="pl-PL" dirty="0" err="1"/>
              <a:t>copy</a:t>
            </a:r>
            <a:r>
              <a:rPr lang="pl-PL" dirty="0"/>
              <a:t> of the </a:t>
            </a:r>
            <a:r>
              <a:rPr lang="pl-PL" dirty="0" err="1"/>
              <a:t>course</a:t>
            </a:r>
            <a:r>
              <a:rPr lang="pl-PL" dirty="0"/>
              <a:t> </a:t>
            </a:r>
            <a:r>
              <a:rPr lang="pl-PL" dirty="0" err="1"/>
              <a:t>repository</a:t>
            </a:r>
            <a:r>
              <a:rPr lang="pl-PL" dirty="0"/>
              <a:t> (materials) from </a:t>
            </a:r>
            <a:r>
              <a:rPr lang="pl-PL" dirty="0" err="1"/>
              <a:t>github</a:t>
            </a:r>
            <a:r>
              <a:rPr lang="pl-PL" dirty="0"/>
              <a:t> to </a:t>
            </a:r>
            <a:r>
              <a:rPr lang="pl-PL" dirty="0" err="1"/>
              <a:t>your</a:t>
            </a:r>
            <a:r>
              <a:rPr lang="pl-PL" dirty="0"/>
              <a:t> </a:t>
            </a:r>
            <a:r>
              <a:rPr lang="pl-PL" dirty="0" err="1"/>
              <a:t>personal</a:t>
            </a:r>
            <a:r>
              <a:rPr lang="pl-PL" dirty="0"/>
              <a:t> </a:t>
            </a:r>
            <a:r>
              <a:rPr lang="pl-PL" dirty="0" err="1"/>
              <a:t>computer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E04374CA-767F-9FAA-246B-BC2D212D8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18</a:t>
            </a:fld>
            <a:endParaRPr lang="pl-PL"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B33793D8-279A-E713-D0D8-3D969606C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Clone </a:t>
            </a:r>
            <a:r>
              <a:rPr lang="pl-PL" dirty="0" err="1"/>
              <a:t>Your</a:t>
            </a:r>
            <a:r>
              <a:rPr lang="pl-PL" dirty="0"/>
              <a:t> Course </a:t>
            </a:r>
            <a:r>
              <a:rPr lang="pl-PL" dirty="0" err="1"/>
              <a:t>Repository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525688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5298">
        <p14:prism/>
      </p:transition>
    </mc:Choice>
    <mc:Fallback xmlns="">
      <p:transition spd="slow" advTm="35298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F9B3077B-F8DD-C67E-9F11-D4182C72C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 your local repository, open a folder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01-CourseIntroduction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Familiarise</a:t>
            </a:r>
            <a:r>
              <a:rPr lang="en-US" dirty="0"/>
              <a:t> yourself with the course syllabus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Syllabus.docx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F</a:t>
            </a:r>
            <a:r>
              <a:rPr lang="en-US" dirty="0" err="1"/>
              <a:t>ind</a:t>
            </a:r>
            <a:r>
              <a:rPr lang="en-US" dirty="0"/>
              <a:t> </a:t>
            </a:r>
            <a:r>
              <a:rPr lang="pl-PL" dirty="0" err="1"/>
              <a:t>course</a:t>
            </a:r>
            <a:r>
              <a:rPr lang="pl-PL" dirty="0"/>
              <a:t> </a:t>
            </a:r>
            <a:r>
              <a:rPr lang="en-US" dirty="0"/>
              <a:t>textbooks "Python for Everybody" (Polish and English versions). </a:t>
            </a:r>
            <a:r>
              <a:rPr lang="pl-PL" dirty="0"/>
              <a:t>Open </a:t>
            </a:r>
            <a:r>
              <a:rPr lang="pl-PL" dirty="0" err="1"/>
              <a:t>those</a:t>
            </a:r>
            <a:r>
              <a:rPr lang="pl-PL" dirty="0"/>
              <a:t> pdf </a:t>
            </a:r>
            <a:r>
              <a:rPr lang="pl-PL" dirty="0" err="1"/>
              <a:t>documents</a:t>
            </a:r>
            <a:r>
              <a:rPr lang="pl-PL" dirty="0"/>
              <a:t>. </a:t>
            </a:r>
            <a:r>
              <a:rPr lang="en-US" dirty="0"/>
              <a:t>Read the table of contents.</a:t>
            </a:r>
          </a:p>
          <a:p>
            <a:endParaRPr lang="en-US" dirty="0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E04374CA-767F-9FAA-246B-BC2D212D8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pl-PL" smtClean="0"/>
              <a:t>19</a:t>
            </a:fld>
            <a:endParaRPr lang="pl-PL"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B33793D8-279A-E713-D0D8-3D969606C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the </a:t>
            </a:r>
            <a:r>
              <a:rPr lang="pl-PL" dirty="0"/>
              <a:t>Course </a:t>
            </a:r>
            <a:r>
              <a:rPr lang="en-US" dirty="0"/>
              <a:t>Syllabus</a:t>
            </a:r>
          </a:p>
        </p:txBody>
      </p:sp>
    </p:spTree>
    <p:extLst>
      <p:ext uri="{BB962C8B-B14F-4D97-AF65-F5344CB8AC3E}">
        <p14:creationId xmlns:p14="http://schemas.microsoft.com/office/powerpoint/2010/main" val="180969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1731">
        <p14:prism/>
      </p:transition>
    </mc:Choice>
    <mc:Fallback xmlns="">
      <p:transition spd="slow" advTm="31731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33590845-679B-40E9-B580-208EC72F0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Tutorials</a:t>
            </a:r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41D4A72D-3389-4C11-9168-63616BF275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for Everybody (book)</a:t>
            </a:r>
          </a:p>
          <a:p>
            <a:pPr marL="457200" lvl="1" indent="0">
              <a:buNone/>
            </a:pPr>
            <a:r>
              <a:rPr lang="en-US" b="0" dirty="0">
                <a:hlinkClick r:id="rId3"/>
              </a:rPr>
              <a:t>https://www.py4e.com/book</a:t>
            </a:r>
            <a:r>
              <a:rPr lang="en-US" b="0" dirty="0"/>
              <a:t> </a:t>
            </a:r>
          </a:p>
          <a:p>
            <a:endParaRPr lang="pl-PL" dirty="0"/>
          </a:p>
          <a:p>
            <a:r>
              <a:rPr lang="en-US" dirty="0"/>
              <a:t>Python Tutorial</a:t>
            </a:r>
          </a:p>
          <a:p>
            <a:pPr marL="457200" lvl="1" indent="0">
              <a:buNone/>
            </a:pPr>
            <a:r>
              <a:rPr lang="en-US" b="0" dirty="0">
                <a:hlinkClick r:id="rId4"/>
              </a:rPr>
              <a:t>https://docs.python.org/3/tutorial/index.html</a:t>
            </a:r>
            <a:r>
              <a:rPr lang="en-US" b="0" dirty="0"/>
              <a:t> </a:t>
            </a:r>
          </a:p>
        </p:txBody>
      </p:sp>
      <p:sp>
        <p:nvSpPr>
          <p:cNvPr id="5" name="Symbol zastępczy zawartości 4">
            <a:extLst>
              <a:ext uri="{FF2B5EF4-FFF2-40B4-BE49-F238E27FC236}">
                <a16:creationId xmlns:a16="http://schemas.microsoft.com/office/drawing/2014/main" id="{EC2C11A6-9282-D27C-5AC9-09188C4D35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W3</a:t>
            </a:r>
            <a:r>
              <a:rPr lang="pl-PL" dirty="0"/>
              <a:t>S</a:t>
            </a:r>
            <a:r>
              <a:rPr lang="en-US" dirty="0" err="1"/>
              <a:t>chools</a:t>
            </a:r>
            <a:r>
              <a:rPr lang="en-US" dirty="0"/>
              <a:t> Python Tutorial</a:t>
            </a:r>
          </a:p>
          <a:p>
            <a:pPr marL="457200" lvl="1" indent="0">
              <a:buNone/>
            </a:pPr>
            <a:r>
              <a:rPr lang="en-US" b="0" dirty="0">
                <a:hlinkClick r:id="rId5"/>
              </a:rPr>
              <a:t>https://www.w3schools.com/python/default.asp</a:t>
            </a:r>
            <a:r>
              <a:rPr lang="en-US" b="0" dirty="0"/>
              <a:t> </a:t>
            </a:r>
          </a:p>
          <a:p>
            <a:endParaRPr lang="pl-PL" dirty="0"/>
          </a:p>
          <a:p>
            <a:r>
              <a:rPr lang="en-US" dirty="0" err="1"/>
              <a:t>SoloLearn</a:t>
            </a:r>
            <a:r>
              <a:rPr lang="en-US" dirty="0"/>
              <a:t> Python Course</a:t>
            </a:r>
            <a:br>
              <a:rPr lang="pl-PL" dirty="0"/>
            </a:br>
            <a:r>
              <a:rPr lang="en-US" dirty="0"/>
              <a:t>(</a:t>
            </a:r>
            <a:r>
              <a:rPr lang="pl-PL" dirty="0"/>
              <a:t>for mobile devices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b="0" dirty="0">
                <a:hlinkClick r:id="rId6"/>
              </a:rPr>
              <a:t>https://play.google.com/store/apps/details?id=com.sololearn&amp;hl=en</a:t>
            </a:r>
            <a:r>
              <a:rPr lang="en-US" b="0" dirty="0"/>
              <a:t> </a:t>
            </a:r>
          </a:p>
          <a:p>
            <a:endParaRPr lang="pl-PL" dirty="0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BC919D30-5A65-40E7-89AD-E69551F20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963F-D690-449C-B336-8B464EE7B8D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502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7075">
        <p14:prism/>
      </p:transition>
    </mc:Choice>
    <mc:Fallback xmlns="">
      <p:transition spd="slow" advTm="37075">
        <p:fade/>
      </p:transition>
    </mc:Fallback>
  </mc:AlternateContent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4495</TotalTime>
  <Words>730</Words>
  <Application>Microsoft Office PowerPoint</Application>
  <PresentationFormat>Panoramiczny</PresentationFormat>
  <Paragraphs>153</Paragraphs>
  <Slides>20</Slides>
  <Notes>20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Motyw pakietu Office</vt:lpstr>
      <vt:lpstr>Fundamentals of Programming Podstawy Programowania</vt:lpstr>
      <vt:lpstr>Communication with Teacher</vt:lpstr>
      <vt:lpstr>Course Details</vt:lpstr>
      <vt:lpstr>Course Content</vt:lpstr>
      <vt:lpstr>Checking Knowledge</vt:lpstr>
      <vt:lpstr>Test For Absent Students</vt:lpstr>
      <vt:lpstr>Final Grade</vt:lpstr>
      <vt:lpstr>Services Necessary for Course</vt:lpstr>
      <vt:lpstr>Sign up for Course on Teams</vt:lpstr>
      <vt:lpstr>Sign up for Course on Moodle</vt:lpstr>
      <vt:lpstr>Create Account on Github</vt:lpstr>
      <vt:lpstr>Make Copy of Class Materials</vt:lpstr>
      <vt:lpstr>Homework</vt:lpstr>
      <vt:lpstr>Watch the video</vt:lpstr>
      <vt:lpstr>Install Python</vt:lpstr>
      <vt:lpstr>Install Git</vt:lpstr>
      <vt:lpstr>Install Visual Studio Code</vt:lpstr>
      <vt:lpstr>Clone Your Course Repository</vt:lpstr>
      <vt:lpstr>Read the Course Syllabus</vt:lpstr>
      <vt:lpstr>Python Tutorials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</dc:title>
  <dc:creator>Janusz Stal</dc:creator>
  <cp:lastModifiedBy>Janusz Stal</cp:lastModifiedBy>
  <cp:revision>257</cp:revision>
  <dcterms:created xsi:type="dcterms:W3CDTF">2017-01-20T14:56:17Z</dcterms:created>
  <dcterms:modified xsi:type="dcterms:W3CDTF">2026-10-03T16:34:18Z</dcterms:modified>
</cp:coreProperties>
</file>